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6e3c3ce-eee6-4980-78fa-9ed2a3daae55}">
          <p14:sldIdLst>
            <p14:sldId id="256"/>
            <p14:sldId id="257"/>
          </p14:sldIdLst>
        </p14:section>
        <p14:section name="Leave and absence" id="{2f419b19-9c85-3049-319a-26dafbe6b3fc}">
          <p14:sldIdLst>
            <p14:sldId id="258"/>
            <p14:sldId id="259"/>
            <p14:sldId id="260"/>
            <p14:sldId id="261"/>
            <p14:sldId id="262"/>
          </p14:sldIdLst>
        </p14:section>
        <p14:section name="Ways of working" id="{c584968d-8297-7000-f35d-3a155895e3dd}">
          <p14:sldIdLst>
            <p14:sldId id="263"/>
            <p14:sldId id="264"/>
            <p14:sldId id="265"/>
            <p14:sldId id="266"/>
          </p14:sldIdLst>
        </p14:section>
        <p14:section name="Next steps" id="{5cf85b87-e1ec-0af9-0af1-e1e55f354254}">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84B"/>
                </a:solidFill>
                <a:latin typeface="+mn-lt"/>
              </a:defRPr>
            </a:pPr>
            <a:r>
              <a:rPr sz="1400" b="0" i="0" u="none" strike="noStrike">
                <a:solidFill>
                  <a:srgbClr val="14284B"/>
                </a:solidFill>
                <a:latin typeface="+mn-lt"/>
              </a:rPr>
              <a:t>Company sick pay: weeks at full pay (then equal weeks at half pay)</a:t>
            </a:r>
          </a:p>
        </c:rich>
      </c:tx>
      <c:layout/>
      <c:overlay val="0"/>
    </c:title>
    <c:autoTitleDeleted val="0"/>
    <c:plotArea>
      <c:layout/>
      <c:barChart>
        <c:barDir val="col"/>
        <c:grouping val="clustered"/>
        <c:varyColors val="0"/>
        <c:ser>
          <c:idx val="0"/>
          <c:order val="0"/>
          <c:tx>
            <c:strRef>
              <c:f>Sheet1!$B$1</c:f>
              <c:strCache>
                <c:ptCount val="1"/>
                <c:pt idx="0">
                  <c:v>Weeks at full pay</c:v>
                </c:pt>
              </c:strCache>
            </c:strRef>
          </c:tx>
          <c:spPr>
            <a:solidFill>
              <a:srgbClr val="3A5F8F"/>
            </a:solidFill>
            <a:effectLst/>
          </c:spPr>
          <c:invertIfNegative val="0"/>
          <c:dLbls>
            <c:numFmt formatCode="#,##0" sourceLinked="0"/>
            <c:txPr>
              <a:bodyPr/>
              <a:lstStyle/>
              <a:p>
                <a:pPr>
                  <a:defRPr b="0" i="0" strike="noStrike" sz="1400" u="none">
                    <a:solidFill>
                      <a:srgbClr val="1E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In probation</c:v>
                  </c:pt>
                  <c:pt idx="1">
                    <c:v>Under 2 years</c:v>
                  </c:pt>
                  <c:pt idx="2">
                    <c:v>2 to 5 years</c:v>
                  </c:pt>
                  <c:pt idx="3">
                    <c:v>5+ years</c:v>
                  </c:pt>
                </c:lvl>
              </c:multiLvlStrCache>
            </c:multiLvlStrRef>
          </c:cat>
          <c:val>
            <c:numRef>
              <c:f>Sheet1!$B$2:$B$5</c:f>
              <c:numCache>
                <c:formatCode>General</c:formatCode>
                <c:ptCount val="4"/>
                <c:pt idx="0">
                  <c:v>0</c:v>
                </c:pt>
                <c:pt idx="1">
                  <c:v>4</c:v>
                </c:pt>
                <c:pt idx="2">
                  <c:v>8</c:v>
                </c:pt>
                <c:pt idx="3">
                  <c:v>13</c:v>
                </c:pt>
              </c:numCache>
            </c:numRef>
          </c:val>
        </c:ser>
        <c:dLbls>
          <c:numFmt formatCode="#,##0" sourceLinked="0"/>
          <c:txPr>
            <a:bodyPr/>
            <a:lstStyle/>
            <a:p>
              <a:pPr>
                <a:defRPr b="0" i="0" strike="noStrike" sz="1400" u="none">
                  <a:solidFill>
                    <a:srgbClr val="1E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270"/>
                </a:solidFill>
                <a:latin typeface="+mn-lt"/>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6350" cap="flat">
              <a:solidFill>
                <a:srgbClr val="C9D2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2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brief all people managers before the new policy set takes effect on 1 October 2026. This deck is a summary. The authoritative rules are in the Employee Handbook NDS-HR-HB-001 v2.0 and the supporting standards NDS-HR-LAS-002 v1.2, NDS-FIN-EXP-003 v1.1, NDS-SEC-ITG-004 v2.0 and NDS-HR-HFW-005 v1.1. Where this briefing differs from a policy document, the policy document prevails.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changes. Annual leave rises from 25 to 27 days for full-time employees with less than 3 years' service, with new increments: 28 days after 3 years and 29 days after 5 years, applying from the first 1 January after the service is completed. Standard carryover rises to 5 days, used by 31 March. Sickness must be reported by calling the line manager by 09:30 on the first day. Hybrid roles attend at least 8 days in each rolling 4-week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when employees ask what changed. Notice rules depend on the date the request was submitted, not the date of the leave. Silence is never approval: if a manager does not decide within 5 working days, PeopleHub escalates the request to the Head of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Transitional rules are in handbook section 6.15 and Leave and Absence Standard section 3.9. Carryover from 2025 into 2026 followed the old rule (3 days by 28 February 2026). Carryover from 2026 into 2027 follows the new rule (5 days by 31 March 2027). The new service increments apply from 1 January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 sick pay in any rolling 12 months: during probation SSP only; probation completed and under 2 years, 4 weeks full pay then 4 weeks half pay; 2 to under 5 years, 8 weeks full then 8 weeks half; 5 years or more, 13 weeks full then 13 weeks half. Attendance triggers: 3 separate absences or 8 working days in a rolling 12 months starts a supportive Stage 0 review. Disability-related absence is recorded separately and triggers may be adjusted.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and pay eligibility are assessed separately. Employees can be entitled to leave without being entitled to statutory or enhanced pay. Carer's leave: one week per 12 months from day one, with the first 3 days paid by Northstar. Time off for dependants: Northstar pays up to 2 days per occurrence and up to 5 paid days per leave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1.0 of the hybrid standard required 3 office days per week and allowed up to 20 Work From Abroad days per year. Version 1.1 changes this to 8 days per rolling 4-week period and 10 working days per rolling 12 months. Exceptions above 10 days need Director of People Operations approval and can never exceed 20 working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Approvers must review claims within 5 working days and must never approve their own expenses or claims where they have a conflict. Splitting a claim to avoid a threshold is a fraud indicator.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AI service is approved for Restricted information, which includes health data, salary and bank details, credentials and customer production data. Prompts and outputs in approved tools are kept for 90 days. Suspected prompt injection is reported to IT Security within 1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Exceptional carryover beyond the standard 5 days is approved by the Director of People Operations and must be used by 30 June of the next leave year. Statutory dates under the Employment Rights Act 2025 are flagged for legal review in the handbook references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10698480" cy="8229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4" name="Text 0"/>
          <p:cNvSpPr/>
          <p:nvPr>
            <p:ph idx="102" type="body" hasCustomPrompt="1"/>
          </p:nvPr>
        </p:nvSpPr>
        <p:spPr>
          <a:xfrm>
            <a:off x="731520" y="5669280"/>
            <a:ext cx="10698480" cy="640080"/>
          </a:xfrm>
          <a:prstGeom prst="rect">
            <a:avLst/>
          </a:prstGeom>
          <a:noFill/>
          <a:ln/>
        </p:spPr>
        <p:txBody>
          <a:bodyPr wrap="square" rtlCol="0"/>
          <a:lstStyle>
            <a:lvl1pPr indent="0" marL="0">
              <a:buNone/>
              <a:defRPr lang="en-US" sz="1200" dirty="0">
                <a:solidFill>
                  <a:schemeClr val="bg2"/>
                </a:solidFill>
              </a:defRPr>
            </a:lvl1pPr>
          </a:lstStyle>
          <a:p>
            <a:pPr indent="0" marL="0">
              <a:buNone/>
            </a:pPr>
            <a:endParaRPr lang="en-US" sz="1200" dirty="0"/>
          </a:p>
        </p:txBody>
      </p:sp>
      <p:sp>
        <p:nvSpPr>
          <p:cNvPr id="5" name="Text 0"/>
          <p:cNvSpPr/>
          <p:nvPr/>
        </p:nvSpPr>
        <p:spPr>
          <a:xfrm>
            <a:off x="731520" y="548640"/>
            <a:ext cx="73152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NORTHSTAR DIGITAL SERVICES LTD.</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468880"/>
            <a:ext cx="1069848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7315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355080"/>
            <a:ext cx="10332720" cy="274320"/>
          </a:xfrm>
          <a:prstGeom prst="rect">
            <a:avLst/>
          </a:prstGeom>
          <a:noFill/>
          <a:ln/>
        </p:spPr>
        <p:txBody>
          <a:bodyPr wrap="square" lIns="0" tIns="0" rIns="0" bIns="0" rtlCol="0" anchor="ctr"/>
          <a:lstStyle/>
          <a:p>
            <a:pPr indent="0" marL="0">
              <a:buNone/>
            </a:pPr>
            <a:r>
              <a:rPr lang="en-US" sz="1000" dirty="0">
                <a:solidFill>
                  <a:schemeClr val="accent6"/>
                </a:solidFill>
              </a:rPr>
              <a:t>NDS-HR-PRES-011 v1.0  ·  Manager briefing  ·  Summary only — where this differs from a policy document, the policy document prevails</a:t>
            </a:r>
            <a:endParaRPr lang="en-US" sz="10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400" b="1" dirty="0">
                <a:solidFill>
                  <a:schemeClr val="bg1"/>
                </a:solidFill>
              </a:rPr>
              <a:t>What changes on 1 October 2026</a:t>
            </a:r>
            <a:endParaRPr lang="en-US" sz="4400" dirty="0"/>
          </a:p>
        </p:txBody>
      </p:sp>
      <p:sp>
        <p:nvSpPr>
          <p:cNvPr id="3" name="Text 0"/>
          <p:cNvSpPr/>
          <p:nvPr>
            <p:ph idx="101" type="body" hasCustomPrompt="1"/>
          </p:nvPr>
        </p:nvSpPr>
        <p:spPr>
          <a:xfrm>
            <a:off x="731520" y="3657600"/>
            <a:ext cx="10698480" cy="822960"/>
          </a:xfrm>
          <a:prstGeom prst="rect">
            <a:avLst/>
          </a:prstGeom>
          <a:noFill/>
          <a:ln/>
        </p:spPr>
        <p:txBody>
          <a:bodyPr wrap="square" lIns="0" tIns="0" rIns="0" bIns="0" rtlCol="0" anchor="t"/>
          <a:lstStyle/>
          <a:p>
            <a:pPr indent="0" marL="0">
              <a:buNone/>
            </a:pPr>
            <a:r>
              <a:rPr lang="en-US" sz="2000" dirty="0">
                <a:solidFill>
                  <a:schemeClr val="bg2"/>
                </a:solidFill>
              </a:rPr>
              <a:t>Manager briefing on the new Employee Handbook v2.0 and supporting standards</a:t>
            </a:r>
            <a:endParaRPr lang="en-US" sz="2000" dirty="0"/>
          </a:p>
        </p:txBody>
      </p:sp>
      <p:sp>
        <p:nvSpPr>
          <p:cNvPr id="4" name="Text 0"/>
          <p:cNvSpPr/>
          <p:nvPr>
            <p:ph idx="102" type="body" hasCustomPrompt="1"/>
          </p:nvPr>
        </p:nvSpPr>
        <p:spPr>
          <a:xfrm>
            <a:off x="731520" y="5669280"/>
            <a:ext cx="10698480" cy="640080"/>
          </a:xfrm>
          <a:prstGeom prst="rect">
            <a:avLst/>
          </a:prstGeom>
          <a:noFill/>
          <a:ln/>
        </p:spPr>
        <p:txBody>
          <a:bodyPr wrap="square" lIns="0" tIns="0" rIns="0" bIns="0" rtlCol="0" anchor="t"/>
          <a:lstStyle/>
          <a:p>
            <a:pPr indent="0" marL="0">
              <a:buNone/>
            </a:pPr>
            <a:r>
              <a:rPr lang="en-US" sz="1200" dirty="0">
                <a:solidFill>
                  <a:schemeClr val="bg2"/>
                </a:solidFill>
              </a:rPr>
              <a:t>NDS-HR-PRES-011  ·  Version 1.0  ·  Presented September 2026 by People Operations  ·  Owner: Director of People Operations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Four numbers every manager needs to know</a:t>
            </a:r>
            <a:endParaRPr lang="en-US" sz="3600" dirty="0"/>
          </a:p>
        </p:txBody>
      </p:sp>
      <p:sp>
        <p:nvSpPr>
          <p:cNvPr id="3" name="stat 1 value"/>
          <p:cNvSpPr txBox="1"/>
          <p:nvPr/>
        </p:nvSpPr>
        <p:spPr>
          <a:xfrm>
            <a:off x="548640" y="1645920"/>
            <a:ext cx="2560320" cy="1005840"/>
          </a:xfrm>
          <a:prstGeom prst="rect">
            <a:avLst/>
          </a:prstGeom>
          <a:noFill/>
          <a:ln/>
        </p:spPr>
        <p:txBody>
          <a:bodyPr wrap="square" lIns="0" tIns="0" rIns="0" bIns="0" rtlCol="0" anchor="b"/>
          <a:lstStyle/>
          <a:p>
            <a:pPr indent="0" marL="0">
              <a:buNone/>
            </a:pPr>
            <a:r>
              <a:rPr lang="en-US" sz="6000" b="1" dirty="0">
                <a:solidFill>
                  <a:schemeClr val="tx2"/>
                </a:solidFill>
              </a:rPr>
              <a:t>27</a:t>
            </a:r>
            <a:endParaRPr lang="en-US" sz="6000" dirty="0"/>
          </a:p>
        </p:txBody>
      </p:sp>
      <p:sp>
        <p:nvSpPr>
          <p:cNvPr id="4" name="stat 1 label"/>
          <p:cNvSpPr txBox="1"/>
          <p:nvPr/>
        </p:nvSpPr>
        <p:spPr>
          <a:xfrm>
            <a:off x="548640" y="2697480"/>
            <a:ext cx="2560320" cy="822960"/>
          </a:xfrm>
          <a:prstGeom prst="rect">
            <a:avLst/>
          </a:prstGeom>
          <a:noFill/>
          <a:ln/>
        </p:spPr>
        <p:txBody>
          <a:bodyPr wrap="square" lIns="0" tIns="0" rIns="0" bIns="0" rtlCol="0" anchor="t"/>
          <a:lstStyle/>
          <a:p>
            <a:pPr indent="0" marL="0">
              <a:buNone/>
            </a:pPr>
            <a:r>
              <a:rPr lang="en-US" sz="1400" dirty="0">
                <a:solidFill>
                  <a:schemeClr val="tx1"/>
                </a:solidFill>
              </a:rPr>
              <a:t>days' annual leave for full-time staff (was 25), plus 8 bank holidays</a:t>
            </a:r>
            <a:endParaRPr lang="en-US" sz="1400" dirty="0"/>
          </a:p>
        </p:txBody>
      </p:sp>
      <p:sp>
        <p:nvSpPr>
          <p:cNvPr id="5" name="stat 2 value"/>
          <p:cNvSpPr txBox="1"/>
          <p:nvPr/>
        </p:nvSpPr>
        <p:spPr>
          <a:xfrm>
            <a:off x="3383280" y="1645920"/>
            <a:ext cx="2560320" cy="1005840"/>
          </a:xfrm>
          <a:prstGeom prst="rect">
            <a:avLst/>
          </a:prstGeom>
          <a:noFill/>
          <a:ln/>
        </p:spPr>
        <p:txBody>
          <a:bodyPr wrap="square" lIns="0" tIns="0" rIns="0" bIns="0" rtlCol="0" anchor="b"/>
          <a:lstStyle/>
          <a:p>
            <a:pPr indent="0" marL="0">
              <a:buNone/>
            </a:pPr>
            <a:r>
              <a:rPr lang="en-US" sz="6000" b="1" dirty="0">
                <a:solidFill>
                  <a:schemeClr val="accent1"/>
                </a:solidFill>
              </a:rPr>
              <a:t>5</a:t>
            </a:r>
            <a:endParaRPr lang="en-US" sz="6000" dirty="0"/>
          </a:p>
        </p:txBody>
      </p:sp>
      <p:sp>
        <p:nvSpPr>
          <p:cNvPr id="6" name="stat 2 label"/>
          <p:cNvSpPr txBox="1"/>
          <p:nvPr/>
        </p:nvSpPr>
        <p:spPr>
          <a:xfrm>
            <a:off x="3383280" y="2697480"/>
            <a:ext cx="2560320" cy="822960"/>
          </a:xfrm>
          <a:prstGeom prst="rect">
            <a:avLst/>
          </a:prstGeom>
          <a:noFill/>
          <a:ln/>
        </p:spPr>
        <p:txBody>
          <a:bodyPr wrap="square" lIns="0" tIns="0" rIns="0" bIns="0" rtlCol="0" anchor="t"/>
          <a:lstStyle/>
          <a:p>
            <a:pPr indent="0" marL="0">
              <a:buNone/>
            </a:pPr>
            <a:r>
              <a:rPr lang="en-US" sz="1400" dirty="0">
                <a:solidFill>
                  <a:schemeClr val="tx1"/>
                </a:solidFill>
              </a:rPr>
              <a:t>days' carryover, to be used by 31 March (was 3 days by 28 February)</a:t>
            </a:r>
            <a:endParaRPr lang="en-US" sz="1400" dirty="0"/>
          </a:p>
        </p:txBody>
      </p:sp>
      <p:sp>
        <p:nvSpPr>
          <p:cNvPr id="7" name="stat 3 value"/>
          <p:cNvSpPr txBox="1"/>
          <p:nvPr/>
        </p:nvSpPr>
        <p:spPr>
          <a:xfrm>
            <a:off x="6217920" y="1645920"/>
            <a:ext cx="2560320" cy="1005840"/>
          </a:xfrm>
          <a:prstGeom prst="rect">
            <a:avLst/>
          </a:prstGeom>
          <a:noFill/>
          <a:ln/>
        </p:spPr>
        <p:txBody>
          <a:bodyPr wrap="square" lIns="0" tIns="0" rIns="0" bIns="0" rtlCol="0" anchor="b"/>
          <a:lstStyle/>
          <a:p>
            <a:pPr indent="0" marL="0">
              <a:buNone/>
            </a:pPr>
            <a:r>
              <a:rPr lang="en-US" sz="6000" b="1" dirty="0">
                <a:solidFill>
                  <a:schemeClr val="tx2"/>
                </a:solidFill>
              </a:rPr>
              <a:t>09:30</a:t>
            </a:r>
            <a:endParaRPr lang="en-US" sz="6000" dirty="0"/>
          </a:p>
        </p:txBody>
      </p:sp>
      <p:sp>
        <p:nvSpPr>
          <p:cNvPr id="8" name="stat 3 label"/>
          <p:cNvSpPr txBox="1"/>
          <p:nvPr/>
        </p:nvSpPr>
        <p:spPr>
          <a:xfrm>
            <a:off x="6217920" y="2697480"/>
            <a:ext cx="2560320" cy="822960"/>
          </a:xfrm>
          <a:prstGeom prst="rect">
            <a:avLst/>
          </a:prstGeom>
          <a:noFill/>
          <a:ln/>
        </p:spPr>
        <p:txBody>
          <a:bodyPr wrap="square" lIns="0" tIns="0" rIns="0" bIns="0" rtlCol="0" anchor="t"/>
          <a:lstStyle/>
          <a:p>
            <a:pPr indent="0" marL="0">
              <a:buNone/>
            </a:pPr>
            <a:r>
              <a:rPr lang="en-US" sz="1400" dirty="0">
                <a:solidFill>
                  <a:schemeClr val="tx1"/>
                </a:solidFill>
              </a:rPr>
              <a:t>sickness reporting deadline by phone or Teams call (was 10:00)</a:t>
            </a:r>
            <a:endParaRPr lang="en-US" sz="1400" dirty="0"/>
          </a:p>
        </p:txBody>
      </p:sp>
      <p:sp>
        <p:nvSpPr>
          <p:cNvPr id="9" name="stat 4 value"/>
          <p:cNvSpPr txBox="1"/>
          <p:nvPr/>
        </p:nvSpPr>
        <p:spPr>
          <a:xfrm>
            <a:off x="9052560" y="1645920"/>
            <a:ext cx="2560320" cy="1005840"/>
          </a:xfrm>
          <a:prstGeom prst="rect">
            <a:avLst/>
          </a:prstGeom>
          <a:noFill/>
          <a:ln/>
        </p:spPr>
        <p:txBody>
          <a:bodyPr wrap="square" lIns="0" tIns="0" rIns="0" bIns="0" rtlCol="0" anchor="b"/>
          <a:lstStyle/>
          <a:p>
            <a:pPr indent="0" marL="0">
              <a:buNone/>
            </a:pPr>
            <a:r>
              <a:rPr lang="en-US" sz="6000" b="1" dirty="0">
                <a:solidFill>
                  <a:schemeClr val="accent1"/>
                </a:solidFill>
              </a:rPr>
              <a:t>8</a:t>
            </a:r>
            <a:endParaRPr lang="en-US" sz="6000" dirty="0"/>
          </a:p>
        </p:txBody>
      </p:sp>
      <p:sp>
        <p:nvSpPr>
          <p:cNvPr id="10" name="stat 4 label"/>
          <p:cNvSpPr txBox="1"/>
          <p:nvPr/>
        </p:nvSpPr>
        <p:spPr>
          <a:xfrm>
            <a:off x="9052560" y="2697480"/>
            <a:ext cx="2560320" cy="822960"/>
          </a:xfrm>
          <a:prstGeom prst="rect">
            <a:avLst/>
          </a:prstGeom>
          <a:noFill/>
          <a:ln/>
        </p:spPr>
        <p:txBody>
          <a:bodyPr wrap="square" lIns="0" tIns="0" rIns="0" bIns="0" rtlCol="0" anchor="t"/>
          <a:lstStyle/>
          <a:p>
            <a:pPr indent="0" marL="0">
              <a:buNone/>
            </a:pPr>
            <a:r>
              <a:rPr lang="en-US" sz="1400" dirty="0">
                <a:solidFill>
                  <a:schemeClr val="tx1"/>
                </a:solidFill>
              </a:rPr>
              <a:t>office or customer-site days in every rolling 4-week period for hybrid roles</a:t>
            </a:r>
            <a:endParaRPr lang="en-US" sz="1400" dirty="0"/>
          </a:p>
        </p:txBody>
      </p:sp>
      <p:sp>
        <p:nvSpPr>
          <p:cNvPr id="11" name="glance note"/>
          <p:cNvSpPr txBox="1"/>
          <p:nvPr/>
        </p:nvSpPr>
        <p:spPr>
          <a:xfrm>
            <a:off x="548640" y="4206240"/>
            <a:ext cx="11064240" cy="731520"/>
          </a:xfrm>
          <a:prstGeom prst="rect">
            <a:avLst/>
          </a:prstGeom>
          <a:noFill/>
          <a:ln/>
        </p:spPr>
        <p:txBody>
          <a:bodyPr wrap="square" lIns="0" tIns="0" rIns="0" bIns="0" rtlCol="0" anchor="ctr"/>
          <a:lstStyle/>
          <a:p>
            <a:pPr indent="0" marL="0">
              <a:buNone/>
            </a:pPr>
            <a:r>
              <a:rPr lang="en-US" sz="1600" i="1" dirty="0">
                <a:solidFill>
                  <a:schemeClr val="accent6"/>
                </a:solidFill>
              </a:rPr>
              <a:t>All changes apply from 1 October 2026. The archived Leave Policy NDS-HR-LV-006 v1.0 must not be used for decisions from that date.</a:t>
            </a:r>
            <a:endParaRPr lang="en-US" sz="16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2468880"/>
            <a:ext cx="10698480" cy="1188720"/>
          </a:xfrm>
          <a:prstGeom prst="rect">
            <a:avLst/>
          </a:prstGeom>
          <a:noFill/>
          <a:ln/>
        </p:spPr>
        <p:txBody>
          <a:bodyPr wrap="square" lIns="0" tIns="0" rIns="0" bIns="0" rtlCol="0" anchor="ctr"/>
          <a:lstStyle/>
          <a:p>
            <a:pPr algn="l" indent="0" marL="0">
              <a:buNone/>
            </a:pPr>
            <a:r>
              <a:rPr lang="en-US" sz="4000" b="1" dirty="0">
                <a:solidFill>
                  <a:schemeClr val="bg1"/>
                </a:solidFill>
              </a:rPr>
              <a:t>Leave and absence</a:t>
            </a:r>
            <a:endParaRPr lang="en-US" sz="4000" dirty="0"/>
          </a:p>
        </p:txBody>
      </p:sp>
      <p:sp>
        <p:nvSpPr>
          <p:cNvPr id="3" name="Text 0"/>
          <p:cNvSpPr/>
          <p:nvPr>
            <p:ph idx="101" type="body" hasCustomPrompt="1"/>
          </p:nvPr>
        </p:nvSpPr>
        <p:spPr>
          <a:xfrm>
            <a:off x="731520" y="3657600"/>
            <a:ext cx="10698480" cy="731520"/>
          </a:xfrm>
          <a:prstGeom prst="rect">
            <a:avLst/>
          </a:prstGeom>
          <a:noFill/>
          <a:ln/>
        </p:spPr>
        <p:txBody>
          <a:bodyPr wrap="square" lIns="0" tIns="0" rIns="0" bIns="0" rtlCol="0" anchor="t"/>
          <a:lstStyle/>
          <a:p>
            <a:pPr indent="0" marL="0">
              <a:buNone/>
            </a:pPr>
            <a:r>
              <a:rPr lang="en-US" sz="1800" dirty="0">
                <a:solidFill>
                  <a:schemeClr val="bg2"/>
                </a:solidFill>
              </a:rPr>
              <a:t>Handbook sections 6 to 9  ·  Leave and Absence Standard NDS-HR-LAS-002 v1.2</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Annual leave: what changed</a:t>
            </a:r>
            <a:endParaRPr lang="en-US" sz="3600" dirty="0"/>
          </a:p>
        </p:txBody>
      </p:sp>
      <p:graphicFrame>
        <p:nvGraphicFramePr>
          <p:cNvPr id="5" name="leave comparison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017520"/>
                <a:gridCol w="3840480"/>
                <a:gridCol w="4206240"/>
              </a:tblGrid>
              <a:tr h="475488">
                <a:tc>
                  <a:txBody>
                    <a:bodyPr/>
                    <a:lstStyle/>
                    <a:p>
                      <a:pPr indent="0" marL="0">
                        <a:buNone/>
                      </a:pPr>
                      <a:r>
                        <a:rPr lang="en-US" sz="1400" b="1" dirty="0">
                          <a:solidFill>
                            <a:schemeClr val="bg1"/>
                          </a:solidFill>
                        </a:rPr>
                        <a:t>Rule</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Until 30 September 2026 (archived v1.0)</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From 1 October 2026 (current)</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tx2"/>
                    </a:solidFill>
                  </a:tcPr>
                </a:tc>
              </a:tr>
              <a:tr h="475488">
                <a:tc>
                  <a:txBody>
                    <a:bodyPr/>
                    <a:lstStyle/>
                    <a:p>
                      <a:pPr indent="0" marL="0">
                        <a:buNone/>
                      </a:pPr>
                      <a:r>
                        <a:rPr lang="en-US" sz="1400" dirty="0">
                          <a:solidFill>
                            <a:schemeClr val="tx1"/>
                          </a:solidFill>
                        </a:rPr>
                        <a:t>Full-time annual leave</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25 days + bank holidays</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27 days + bank holidays</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Service increments</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 day after 5 years</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 day after 3 years; +2 days after 5 years</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rPr>
                        <a:t>Notice for 2–5 days</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 working days</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 working days</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Manager response time</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 working days</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5 working days, then auto-escalation</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rPr>
                        <a:t>Carryover</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 days, use by 28 February</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 days, use by 31 March</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Hourly leave</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Not available</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Up to 37.5 hours a year, 1-hour minimum</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rPr>
                        <a:t>Negative balance</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Not permitted</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Up to 3 days with HoD approval</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Getting the 2026 transition right</a:t>
            </a:r>
            <a:endParaRPr lang="en-US" sz="3600" dirty="0"/>
          </a:p>
        </p:txBody>
      </p:sp>
      <p:sp>
        <p:nvSpPr>
          <p:cNvPr id="3" name="timeline dot 1"/>
          <p:cNvSpPr/>
          <p:nvPr/>
        </p:nvSpPr>
        <p:spPr>
          <a:xfrm>
            <a:off x="548640" y="1554480"/>
            <a:ext cx="457200" cy="457200"/>
          </a:xfrm>
          <a:prstGeom prst="ellipse">
            <a:avLst/>
          </a:prstGeom>
          <a:solidFill>
            <a:schemeClr val="tx2"/>
          </a:solidFill>
          <a:ln w="12700">
            <a:solidFill>
              <a:schemeClr val="tx2"/>
            </a:solidFill>
            <a:prstDash val="solid"/>
          </a:ln>
        </p:spPr>
      </p:sp>
      <p:sp>
        <p:nvSpPr>
          <p:cNvPr id="4" name="timeline line 1"/>
          <p:cNvSpPr/>
          <p:nvPr/>
        </p:nvSpPr>
        <p:spPr>
          <a:xfrm>
            <a:off x="1051560" y="1783080"/>
            <a:ext cx="2286000" cy="0"/>
          </a:xfrm>
          <a:prstGeom prst="line">
            <a:avLst/>
          </a:prstGeom>
          <a:noFill/>
          <a:ln w="25400">
            <a:solidFill>
              <a:srgbClr val="C9D2DE"/>
            </a:solidFill>
            <a:prstDash val="solid"/>
          </a:ln>
        </p:spPr>
      </p:sp>
      <p:sp>
        <p:nvSpPr>
          <p:cNvPr id="5" name="timeline head 1"/>
          <p:cNvSpPr txBox="1"/>
          <p:nvPr/>
        </p:nvSpPr>
        <p:spPr>
          <a:xfrm>
            <a:off x="548640" y="219456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Before 1 Oct 2026</a:t>
            </a:r>
            <a:endParaRPr lang="en-US" sz="1800" dirty="0"/>
          </a:p>
        </p:txBody>
      </p:sp>
      <p:sp>
        <p:nvSpPr>
          <p:cNvPr id="6" name="timeline body 1"/>
          <p:cNvSpPr txBox="1"/>
          <p:nvPr/>
        </p:nvSpPr>
        <p:spPr>
          <a:xfrm>
            <a:off x="548640" y="2697480"/>
            <a:ext cx="2560320" cy="1737360"/>
          </a:xfrm>
          <a:prstGeom prst="rect">
            <a:avLst/>
          </a:prstGeom>
          <a:noFill/>
          <a:ln/>
        </p:spPr>
        <p:txBody>
          <a:bodyPr wrap="square" lIns="0" tIns="0" rIns="0" bIns="0" rtlCol="0" anchor="t"/>
          <a:lstStyle/>
          <a:p>
            <a:pPr indent="0" marL="0">
              <a:buNone/>
            </a:pPr>
            <a:r>
              <a:rPr lang="en-US" sz="1400" dirty="0">
                <a:solidFill>
                  <a:schemeClr val="tx1"/>
                </a:solidFill>
              </a:rPr>
              <a:t>Requests submitted before 1 October follow the old notice rules, even for leave after 1 October</a:t>
            </a:r>
            <a:endParaRPr lang="en-US" sz="1400" dirty="0"/>
          </a:p>
        </p:txBody>
      </p:sp>
      <p:sp>
        <p:nvSpPr>
          <p:cNvPr id="7" name="timeline dot 2"/>
          <p:cNvSpPr/>
          <p:nvPr/>
        </p:nvSpPr>
        <p:spPr>
          <a:xfrm>
            <a:off x="3383280" y="1554480"/>
            <a:ext cx="457200" cy="457200"/>
          </a:xfrm>
          <a:prstGeom prst="ellipse">
            <a:avLst/>
          </a:prstGeom>
          <a:solidFill>
            <a:schemeClr val="tx2"/>
          </a:solidFill>
          <a:ln w="12700">
            <a:solidFill>
              <a:schemeClr val="tx2"/>
            </a:solidFill>
            <a:prstDash val="solid"/>
          </a:ln>
        </p:spPr>
      </p:sp>
      <p:sp>
        <p:nvSpPr>
          <p:cNvPr id="8" name="timeline line 2"/>
          <p:cNvSpPr/>
          <p:nvPr/>
        </p:nvSpPr>
        <p:spPr>
          <a:xfrm>
            <a:off x="3886200" y="1783080"/>
            <a:ext cx="2286000" cy="0"/>
          </a:xfrm>
          <a:prstGeom prst="line">
            <a:avLst/>
          </a:prstGeom>
          <a:noFill/>
          <a:ln w="25400">
            <a:solidFill>
              <a:srgbClr val="C9D2DE"/>
            </a:solidFill>
            <a:prstDash val="solid"/>
          </a:ln>
        </p:spPr>
      </p:sp>
      <p:sp>
        <p:nvSpPr>
          <p:cNvPr id="9" name="timeline head 2"/>
          <p:cNvSpPr txBox="1"/>
          <p:nvPr/>
        </p:nvSpPr>
        <p:spPr>
          <a:xfrm>
            <a:off x="3383280" y="219456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2026 leave year</a:t>
            </a:r>
            <a:endParaRPr lang="en-US" sz="1800" dirty="0"/>
          </a:p>
        </p:txBody>
      </p:sp>
      <p:sp>
        <p:nvSpPr>
          <p:cNvPr id="10" name="timeline body 2"/>
          <p:cNvSpPr txBox="1"/>
          <p:nvPr/>
        </p:nvSpPr>
        <p:spPr>
          <a:xfrm>
            <a:off x="3383280" y="2697480"/>
            <a:ext cx="2560320" cy="1737360"/>
          </a:xfrm>
          <a:prstGeom prst="rect">
            <a:avLst/>
          </a:prstGeom>
          <a:noFill/>
          <a:ln/>
        </p:spPr>
        <p:txBody>
          <a:bodyPr wrap="square" lIns="0" tIns="0" rIns="0" bIns="0" rtlCol="0" anchor="t"/>
          <a:lstStyle/>
          <a:p>
            <a:pPr indent="0" marL="0">
              <a:buNone/>
            </a:pPr>
            <a:r>
              <a:rPr lang="en-US" sz="1400" dirty="0">
                <a:solidFill>
                  <a:schemeClr val="tx1"/>
                </a:solidFill>
              </a:rPr>
              <a:t>Full-time entitlement is 25.5 days (25 + 0.5 uplift); 26.5 days with 5+ years' service</a:t>
            </a:r>
            <a:endParaRPr lang="en-US" sz="1400" dirty="0"/>
          </a:p>
        </p:txBody>
      </p:sp>
      <p:sp>
        <p:nvSpPr>
          <p:cNvPr id="11" name="timeline dot 3"/>
          <p:cNvSpPr/>
          <p:nvPr/>
        </p:nvSpPr>
        <p:spPr>
          <a:xfrm>
            <a:off x="6217920" y="1554480"/>
            <a:ext cx="457200" cy="457200"/>
          </a:xfrm>
          <a:prstGeom prst="ellipse">
            <a:avLst/>
          </a:prstGeom>
          <a:solidFill>
            <a:schemeClr val="accent2"/>
          </a:solidFill>
          <a:ln w="12700">
            <a:solidFill>
              <a:schemeClr val="accent2"/>
            </a:solidFill>
            <a:prstDash val="solid"/>
          </a:ln>
        </p:spPr>
      </p:sp>
      <p:sp>
        <p:nvSpPr>
          <p:cNvPr id="12" name="timeline line 3"/>
          <p:cNvSpPr/>
          <p:nvPr/>
        </p:nvSpPr>
        <p:spPr>
          <a:xfrm>
            <a:off x="6720840" y="1783080"/>
            <a:ext cx="2286000" cy="0"/>
          </a:xfrm>
          <a:prstGeom prst="line">
            <a:avLst/>
          </a:prstGeom>
          <a:noFill/>
          <a:ln w="25400">
            <a:solidFill>
              <a:srgbClr val="C9D2DE"/>
            </a:solidFill>
            <a:prstDash val="solid"/>
          </a:ln>
        </p:spPr>
      </p:sp>
      <p:sp>
        <p:nvSpPr>
          <p:cNvPr id="13" name="timeline head 3"/>
          <p:cNvSpPr txBox="1"/>
          <p:nvPr/>
        </p:nvSpPr>
        <p:spPr>
          <a:xfrm>
            <a:off x="6217920" y="219456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From 1 Oct 2026</a:t>
            </a:r>
            <a:endParaRPr lang="en-US" sz="1800" dirty="0"/>
          </a:p>
        </p:txBody>
      </p:sp>
      <p:sp>
        <p:nvSpPr>
          <p:cNvPr id="14" name="timeline body 3"/>
          <p:cNvSpPr txBox="1"/>
          <p:nvPr/>
        </p:nvSpPr>
        <p:spPr>
          <a:xfrm>
            <a:off x="6217920" y="2697480"/>
            <a:ext cx="2560320" cy="1737360"/>
          </a:xfrm>
          <a:prstGeom prst="rect">
            <a:avLst/>
          </a:prstGeom>
          <a:noFill/>
          <a:ln/>
        </p:spPr>
        <p:txBody>
          <a:bodyPr wrap="square" lIns="0" tIns="0" rIns="0" bIns="0" rtlCol="0" anchor="t"/>
          <a:lstStyle/>
          <a:p>
            <a:pPr indent="0" marL="0">
              <a:buNone/>
            </a:pPr>
            <a:r>
              <a:rPr lang="en-US" sz="1400" dirty="0">
                <a:solidFill>
                  <a:schemeClr val="tx1"/>
                </a:solidFill>
              </a:rPr>
              <a:t>New notice rules, hourly leave and the 09:30 sickness deadline apply</a:t>
            </a:r>
            <a:endParaRPr lang="en-US" sz="1400" dirty="0"/>
          </a:p>
        </p:txBody>
      </p:sp>
      <p:sp>
        <p:nvSpPr>
          <p:cNvPr id="15" name="timeline dot 4"/>
          <p:cNvSpPr/>
          <p:nvPr/>
        </p:nvSpPr>
        <p:spPr>
          <a:xfrm>
            <a:off x="9052560" y="1554480"/>
            <a:ext cx="457200" cy="457200"/>
          </a:xfrm>
          <a:prstGeom prst="ellipse">
            <a:avLst/>
          </a:prstGeom>
          <a:solidFill>
            <a:schemeClr val="tx2"/>
          </a:solidFill>
          <a:ln w="12700">
            <a:solidFill>
              <a:schemeClr val="tx2"/>
            </a:solidFill>
            <a:prstDash val="solid"/>
          </a:ln>
        </p:spPr>
      </p:sp>
      <p:sp>
        <p:nvSpPr>
          <p:cNvPr id="16" name="timeline head 4"/>
          <p:cNvSpPr txBox="1"/>
          <p:nvPr/>
        </p:nvSpPr>
        <p:spPr>
          <a:xfrm>
            <a:off x="9052560" y="219456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31 Mar 2027</a:t>
            </a:r>
            <a:endParaRPr lang="en-US" sz="1800" dirty="0"/>
          </a:p>
        </p:txBody>
      </p:sp>
      <p:sp>
        <p:nvSpPr>
          <p:cNvPr id="17" name="timeline body 4"/>
          <p:cNvSpPr txBox="1"/>
          <p:nvPr/>
        </p:nvSpPr>
        <p:spPr>
          <a:xfrm>
            <a:off x="9052560" y="2697480"/>
            <a:ext cx="2560320" cy="1737360"/>
          </a:xfrm>
          <a:prstGeom prst="rect">
            <a:avLst/>
          </a:prstGeom>
          <a:noFill/>
          <a:ln/>
        </p:spPr>
        <p:txBody>
          <a:bodyPr wrap="square" lIns="0" tIns="0" rIns="0" bIns="0" rtlCol="0" anchor="t"/>
          <a:lstStyle/>
          <a:p>
            <a:pPr indent="0" marL="0">
              <a:buNone/>
            </a:pPr>
            <a:r>
              <a:rPr lang="en-US" sz="1400" dirty="0">
                <a:solidFill>
                  <a:schemeClr val="tx1"/>
                </a:solidFill>
              </a:rPr>
              <a:t>Deadline to use up to 5 days carried over from 2026</a:t>
            </a:r>
            <a:endParaRPr lang="en-US" sz="1400" dirty="0"/>
          </a:p>
        </p:txBody>
      </p:sp>
      <p:sp>
        <p:nvSpPr>
          <p:cNvPr id="18" name="example box"/>
          <p:cNvSpPr/>
          <p:nvPr/>
        </p:nvSpPr>
        <p:spPr>
          <a:xfrm>
            <a:off x="548640" y="4663440"/>
            <a:ext cx="11064240" cy="1280160"/>
          </a:xfrm>
          <a:prstGeom prst="roundRect">
            <a:avLst>
              <a:gd name="adj" fmla="val 5714"/>
            </a:avLst>
          </a:prstGeom>
          <a:solidFill>
            <a:schemeClr val="bg2"/>
          </a:solidFill>
          <a:ln w="12700">
            <a:solidFill>
              <a:schemeClr val="bg2"/>
            </a:solidFill>
            <a:prstDash val="solid"/>
          </a:ln>
        </p:spPr>
      </p:sp>
      <p:sp>
        <p:nvSpPr>
          <p:cNvPr id="19" name="example text"/>
          <p:cNvSpPr txBox="1"/>
          <p:nvPr/>
        </p:nvSpPr>
        <p:spPr>
          <a:xfrm>
            <a:off x="777240" y="4754880"/>
            <a:ext cx="10607040" cy="1097280"/>
          </a:xfrm>
          <a:prstGeom prst="rect">
            <a:avLst/>
          </a:prstGeom>
          <a:noFill/>
          <a:ln/>
        </p:spPr>
        <p:txBody>
          <a:bodyPr wrap="square" lIns="0" tIns="0" rIns="0" bIns="0" rtlCol="0" anchor="ctr"/>
          <a:lstStyle/>
          <a:p>
            <a:pPr indent="0" marL="0">
              <a:buNone/>
            </a:pPr>
            <a:r>
              <a:rPr lang="en-US" sz="1400" b="1" dirty="0">
                <a:solidFill>
                  <a:schemeClr val="tx1"/>
                </a:solidFill>
              </a:rPr>
              <a:t>Example: </a:t>
            </a:r>
            <a:pPr indent="0" marL="0">
              <a:buNone/>
            </a:pPr>
            <a:r>
              <a:rPr lang="en-US" sz="1400" dirty="0">
                <a:solidFill>
                  <a:schemeClr val="tx1"/>
                </a:solidFill>
              </a:rPr>
              <a:t>a request submitted on Monday 28 September 2026 for 3 days from Tuesday 6 October gave 5 working days' notice. Old rules apply, so notice was met. The same request submitted on Thursday 1 October for leave from Monday 12 October gives 6 working days: short notice under the new 10-day rule.</a:t>
            </a:r>
            <a:endParaRPr lang="en-US" sz="14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Sickness: call by 09:30, SSP from day one</a:t>
            </a:r>
            <a:endParaRPr lang="en-US" sz="3600" dirty="0"/>
          </a:p>
        </p:txBody>
      </p:sp>
      <p:sp>
        <p:nvSpPr>
          <p:cNvPr id="3" name="sickness bullets"/>
          <p:cNvSpPr txBox="1"/>
          <p:nvPr/>
        </p:nvSpPr>
        <p:spPr>
          <a:xfrm>
            <a:off x="548640" y="1371600"/>
            <a:ext cx="5120640" cy="4480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Employees call (phone or Teams) by 09:30 on day one; messages alone are not enough</a:t>
            </a:r>
            <a:endParaRPr lang="en-US" sz="1500" dirty="0"/>
          </a:p>
          <a:p>
            <a:pPr marL="342900" indent="-342900">
              <a:spcAft>
                <a:spcPts val="800"/>
              </a:spcAft>
              <a:buSzPct val="100000"/>
              <a:buChar char="•"/>
            </a:pPr>
            <a:r>
              <a:rPr lang="en-US" sz="1500" dirty="0">
                <a:solidFill>
                  <a:schemeClr val="tx1"/>
                </a:solidFill>
              </a:rPr>
              <a:t>Self-certify up to 7 calendar days; fit note after that</a:t>
            </a:r>
            <a:endParaRPr lang="en-US" sz="1500" dirty="0"/>
          </a:p>
          <a:p>
            <a:pPr marL="342900" indent="-342900">
              <a:spcAft>
                <a:spcPts val="800"/>
              </a:spcAft>
              <a:buSzPct val="100000"/>
              <a:buChar char="•"/>
            </a:pPr>
            <a:r>
              <a:rPr lang="en-US" sz="1500" dirty="0">
                <a:solidFill>
                  <a:schemeClr val="tx1"/>
                </a:solidFill>
              </a:rPr>
              <a:t>Since 6 April 2026, SSP is paid from the first day: £123.25 a week or 80% of earnings, whichever is lower</a:t>
            </a:r>
            <a:endParaRPr lang="en-US" sz="1500" dirty="0"/>
          </a:p>
          <a:p>
            <a:pPr marL="342900" indent="-342900">
              <a:spcAft>
                <a:spcPts val="800"/>
              </a:spcAft>
              <a:buSzPct val="100000"/>
              <a:buChar char="•"/>
            </a:pPr>
            <a:r>
              <a:rPr lang="en-US" sz="1500" dirty="0">
                <a:solidFill>
                  <a:schemeClr val="tx1"/>
                </a:solidFill>
              </a:rPr>
              <a:t>Company sick pay is inclusive of SSP and starts after probation</a:t>
            </a:r>
            <a:endParaRPr lang="en-US" sz="1500" dirty="0"/>
          </a:p>
          <a:p>
            <a:pPr marL="342900" indent="-342900">
              <a:spcAft>
                <a:spcPts val="800"/>
              </a:spcAft>
              <a:buSzPct val="100000"/>
              <a:buChar char="•"/>
            </a:pPr>
            <a:r>
              <a:rPr lang="en-US" sz="1500" dirty="0">
                <a:solidFill>
                  <a:schemeClr val="tx1"/>
                </a:solidFill>
              </a:rPr>
              <a:t>Pregnancy-related absence never counts towards triggers</a:t>
            </a:r>
            <a:endParaRPr lang="en-US" sz="1500" dirty="0"/>
          </a:p>
        </p:txBody>
      </p:sp>
      <p:graphicFrame>
        <p:nvGraphicFramePr>
          <p:cNvPr id="4" name="sick pay chart" descr=""/>
          <p:cNvGraphicFramePr/>
          <p:nvPr/>
        </p:nvGraphicFramePr>
        <p:xfrm>
          <a:off x="6035040" y="1280160"/>
          <a:ext cx="5577840" cy="45720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Family leave: day-one rights, conditional pay</a:t>
            </a:r>
            <a:endParaRPr lang="en-US" sz="3600" dirty="0"/>
          </a:p>
        </p:txBody>
      </p:sp>
      <p:sp>
        <p:nvSpPr>
          <p:cNvPr id="3" name="paternity card"/>
          <p:cNvSpPr/>
          <p:nvPr/>
        </p:nvSpPr>
        <p:spPr>
          <a:xfrm>
            <a:off x="548640" y="1371600"/>
            <a:ext cx="3520440" cy="3200400"/>
          </a:xfrm>
          <a:prstGeom prst="roundRect">
            <a:avLst>
              <a:gd name="adj" fmla="val 2286"/>
            </a:avLst>
          </a:prstGeom>
          <a:solidFill>
            <a:schemeClr val="bg2"/>
          </a:solidFill>
          <a:ln w="12700">
            <a:solidFill>
              <a:schemeClr val="bg2"/>
            </a:solidFill>
            <a:prstDash val="solid"/>
          </a:ln>
        </p:spPr>
      </p:sp>
      <p:sp>
        <p:nvSpPr>
          <p:cNvPr id="4" name="paternity icon bg"/>
          <p:cNvSpPr/>
          <p:nvPr/>
        </p:nvSpPr>
        <p:spPr>
          <a:xfrm>
            <a:off x="777240" y="1600200"/>
            <a:ext cx="548640" cy="548640"/>
          </a:xfrm>
          <a:prstGeom prst="ellipse">
            <a:avLst/>
          </a:prstGeom>
          <a:solidFill>
            <a:schemeClr val="tx2"/>
          </a:solidFill>
          <a:ln w="12700">
            <a:solidFill>
              <a:schemeClr val="tx2"/>
            </a:solidFill>
            <a:prstDash val="solid"/>
          </a:ln>
        </p:spPr>
      </p:sp>
      <p:pic>
        <p:nvPicPr>
          <p:cNvPr id="5" name="paternity icon" descr="preencoded.png">    </p:cNvPr>
          <p:cNvPicPr>
            <a:picLocks noChangeAspect="1"/>
          </p:cNvPicPr>
          <p:nvPr/>
        </p:nvPicPr>
        <p:blipFill>
          <a:blip r:embed="rId1"/>
          <a:stretch>
            <a:fillRect/>
          </a:stretch>
        </p:blipFill>
        <p:spPr>
          <a:xfrm>
            <a:off x="886968" y="1709928"/>
            <a:ext cx="329184" cy="329184"/>
          </a:xfrm>
          <a:prstGeom prst="rect">
            <a:avLst/>
          </a:prstGeom>
        </p:spPr>
      </p:pic>
      <p:sp>
        <p:nvSpPr>
          <p:cNvPr id="6" name="paternity title"/>
          <p:cNvSpPr txBox="1"/>
          <p:nvPr/>
        </p:nvSpPr>
        <p:spPr>
          <a:xfrm>
            <a:off x="1463040" y="1572768"/>
            <a:ext cx="2423160" cy="603504"/>
          </a:xfrm>
          <a:prstGeom prst="rect">
            <a:avLst/>
          </a:prstGeom>
          <a:noFill/>
          <a:ln/>
        </p:spPr>
        <p:txBody>
          <a:bodyPr wrap="square" lIns="0" tIns="0" rIns="0" bIns="0" rtlCol="0" anchor="ctr"/>
          <a:lstStyle/>
          <a:p>
            <a:pPr indent="0" marL="0">
              <a:buNone/>
            </a:pPr>
            <a:r>
              <a:rPr lang="en-US" sz="1800" b="1" dirty="0">
                <a:solidFill>
                  <a:schemeClr val="tx2"/>
                </a:solidFill>
              </a:rPr>
              <a:t>Paternity leave</a:t>
            </a:r>
            <a:endParaRPr lang="en-US" sz="1800" dirty="0"/>
          </a:p>
        </p:txBody>
      </p:sp>
      <p:sp>
        <p:nvSpPr>
          <p:cNvPr id="7" name="paternity body"/>
          <p:cNvSpPr txBox="1"/>
          <p:nvPr/>
        </p:nvSpPr>
        <p:spPr>
          <a:xfrm>
            <a:off x="822960" y="2286000"/>
            <a:ext cx="3017520" cy="214884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Day-one right since 6 April 2026: up to 2 weeks. Full pay for 2 weeks only if the employee qualifies for SPP (26 weeks' service by the qualifying week); otherwise unpaid.</a:t>
            </a:r>
            <a:endParaRPr lang="en-US" sz="1600" dirty="0"/>
          </a:p>
        </p:txBody>
      </p:sp>
      <p:sp>
        <p:nvSpPr>
          <p:cNvPr id="8" name="parental card"/>
          <p:cNvSpPr/>
          <p:nvPr/>
        </p:nvSpPr>
        <p:spPr>
          <a:xfrm>
            <a:off x="4325112" y="1371600"/>
            <a:ext cx="3520440" cy="3200400"/>
          </a:xfrm>
          <a:prstGeom prst="roundRect">
            <a:avLst>
              <a:gd name="adj" fmla="val 2286"/>
            </a:avLst>
          </a:prstGeom>
          <a:solidFill>
            <a:schemeClr val="bg2"/>
          </a:solidFill>
          <a:ln w="12700">
            <a:solidFill>
              <a:schemeClr val="bg2"/>
            </a:solidFill>
            <a:prstDash val="solid"/>
          </a:ln>
        </p:spPr>
      </p:sp>
      <p:sp>
        <p:nvSpPr>
          <p:cNvPr id="9" name="parental icon bg"/>
          <p:cNvSpPr/>
          <p:nvPr/>
        </p:nvSpPr>
        <p:spPr>
          <a:xfrm>
            <a:off x="4553712" y="1600200"/>
            <a:ext cx="548640" cy="548640"/>
          </a:xfrm>
          <a:prstGeom prst="ellipse">
            <a:avLst/>
          </a:prstGeom>
          <a:solidFill>
            <a:schemeClr val="tx2"/>
          </a:solidFill>
          <a:ln w="12700">
            <a:solidFill>
              <a:schemeClr val="tx2"/>
            </a:solidFill>
            <a:prstDash val="solid"/>
          </a:ln>
        </p:spPr>
      </p:sp>
      <p:pic>
        <p:nvPicPr>
          <p:cNvPr id="10" name="parental icon" descr="preencoded.png">    </p:cNvPr>
          <p:cNvPicPr>
            <a:picLocks noChangeAspect="1"/>
          </p:cNvPicPr>
          <p:nvPr/>
        </p:nvPicPr>
        <p:blipFill>
          <a:blip r:embed="rId2"/>
          <a:stretch>
            <a:fillRect/>
          </a:stretch>
        </p:blipFill>
        <p:spPr>
          <a:xfrm>
            <a:off x="4663440" y="1709928"/>
            <a:ext cx="329184" cy="329184"/>
          </a:xfrm>
          <a:prstGeom prst="rect">
            <a:avLst/>
          </a:prstGeom>
        </p:spPr>
      </p:pic>
      <p:sp>
        <p:nvSpPr>
          <p:cNvPr id="11" name="parental title"/>
          <p:cNvSpPr txBox="1"/>
          <p:nvPr/>
        </p:nvSpPr>
        <p:spPr>
          <a:xfrm>
            <a:off x="5239512" y="1572768"/>
            <a:ext cx="2423160" cy="603504"/>
          </a:xfrm>
          <a:prstGeom prst="rect">
            <a:avLst/>
          </a:prstGeom>
          <a:noFill/>
          <a:ln/>
        </p:spPr>
        <p:txBody>
          <a:bodyPr wrap="square" lIns="0" tIns="0" rIns="0" bIns="0" rtlCol="0" anchor="ctr"/>
          <a:lstStyle/>
          <a:p>
            <a:pPr indent="0" marL="0">
              <a:buNone/>
            </a:pPr>
            <a:r>
              <a:rPr lang="en-US" sz="1800" b="1" dirty="0">
                <a:solidFill>
                  <a:schemeClr val="tx2"/>
                </a:solidFill>
              </a:rPr>
              <a:t>Unpaid parental leave</a:t>
            </a:r>
            <a:endParaRPr lang="en-US" sz="1800" dirty="0"/>
          </a:p>
        </p:txBody>
      </p:sp>
      <p:sp>
        <p:nvSpPr>
          <p:cNvPr id="12" name="parental body"/>
          <p:cNvSpPr txBox="1"/>
          <p:nvPr/>
        </p:nvSpPr>
        <p:spPr>
          <a:xfrm>
            <a:off x="4599432" y="2286000"/>
            <a:ext cx="3017520" cy="214884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Day-one right since 6 April 2026: 18 weeks per child up to age 18, maximum 4 weeks per child per year, 21 days' notice.</a:t>
            </a:r>
            <a:endParaRPr lang="en-US" sz="1600" dirty="0"/>
          </a:p>
        </p:txBody>
      </p:sp>
      <p:sp>
        <p:nvSpPr>
          <p:cNvPr id="13" name="maternity card"/>
          <p:cNvSpPr/>
          <p:nvPr/>
        </p:nvSpPr>
        <p:spPr>
          <a:xfrm>
            <a:off x="8101584" y="1371600"/>
            <a:ext cx="3520440" cy="3200400"/>
          </a:xfrm>
          <a:prstGeom prst="roundRect">
            <a:avLst>
              <a:gd name="adj" fmla="val 2286"/>
            </a:avLst>
          </a:prstGeom>
          <a:solidFill>
            <a:schemeClr val="bg2"/>
          </a:solidFill>
          <a:ln w="12700">
            <a:solidFill>
              <a:schemeClr val="bg2"/>
            </a:solidFill>
            <a:prstDash val="solid"/>
          </a:ln>
        </p:spPr>
      </p:sp>
      <p:sp>
        <p:nvSpPr>
          <p:cNvPr id="14" name="maternity icon bg"/>
          <p:cNvSpPr/>
          <p:nvPr/>
        </p:nvSpPr>
        <p:spPr>
          <a:xfrm>
            <a:off x="8330184" y="1600200"/>
            <a:ext cx="548640" cy="548640"/>
          </a:xfrm>
          <a:prstGeom prst="ellipse">
            <a:avLst/>
          </a:prstGeom>
          <a:solidFill>
            <a:schemeClr val="tx2"/>
          </a:solidFill>
          <a:ln w="12700">
            <a:solidFill>
              <a:schemeClr val="tx2"/>
            </a:solidFill>
            <a:prstDash val="solid"/>
          </a:ln>
        </p:spPr>
      </p:sp>
      <p:pic>
        <p:nvPicPr>
          <p:cNvPr id="15" name="maternity icon" descr="preencoded.png">    </p:cNvPr>
          <p:cNvPicPr>
            <a:picLocks noChangeAspect="1"/>
          </p:cNvPicPr>
          <p:nvPr/>
        </p:nvPicPr>
        <p:blipFill>
          <a:blip r:embed="rId3"/>
          <a:stretch>
            <a:fillRect/>
          </a:stretch>
        </p:blipFill>
        <p:spPr>
          <a:xfrm>
            <a:off x="8439912" y="1709928"/>
            <a:ext cx="329184" cy="329184"/>
          </a:xfrm>
          <a:prstGeom prst="rect">
            <a:avLst/>
          </a:prstGeom>
        </p:spPr>
      </p:pic>
      <p:sp>
        <p:nvSpPr>
          <p:cNvPr id="16" name="maternity title"/>
          <p:cNvSpPr txBox="1"/>
          <p:nvPr/>
        </p:nvSpPr>
        <p:spPr>
          <a:xfrm>
            <a:off x="9015984" y="1572768"/>
            <a:ext cx="2423160" cy="603504"/>
          </a:xfrm>
          <a:prstGeom prst="rect">
            <a:avLst/>
          </a:prstGeom>
          <a:noFill/>
          <a:ln/>
        </p:spPr>
        <p:txBody>
          <a:bodyPr wrap="square" lIns="0" tIns="0" rIns="0" bIns="0" rtlCol="0" anchor="ctr"/>
          <a:lstStyle/>
          <a:p>
            <a:pPr indent="0" marL="0">
              <a:buNone/>
            </a:pPr>
            <a:r>
              <a:rPr lang="en-US" sz="1800" b="1" dirty="0">
                <a:solidFill>
                  <a:schemeClr val="tx2"/>
                </a:solidFill>
              </a:rPr>
              <a:t>Enhanced maternity and adoption pay</a:t>
            </a:r>
            <a:endParaRPr lang="en-US" sz="1800" dirty="0"/>
          </a:p>
        </p:txBody>
      </p:sp>
      <p:sp>
        <p:nvSpPr>
          <p:cNvPr id="17" name="maternity body"/>
          <p:cNvSpPr txBox="1"/>
          <p:nvPr/>
        </p:nvSpPr>
        <p:spPr>
          <a:xfrm>
            <a:off x="8375904" y="2286000"/>
            <a:ext cx="3017520" cy="214884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16 weeks' full pay, then statutory pay to week 39, for employees who qualify for statutory pay and have 26 weeks' service. Shared parental pay has no enhancement.</a:t>
            </a:r>
            <a:endParaRPr lang="en-US" sz="1600" dirty="0"/>
          </a:p>
        </p:txBody>
      </p:sp>
      <p:sp>
        <p:nvSpPr>
          <p:cNvPr id="18" name="family callout box"/>
          <p:cNvSpPr/>
          <p:nvPr/>
        </p:nvSpPr>
        <p:spPr>
          <a:xfrm>
            <a:off x="548640" y="4846320"/>
            <a:ext cx="11064240" cy="1005840"/>
          </a:xfrm>
          <a:prstGeom prst="roundRect">
            <a:avLst>
              <a:gd name="adj" fmla="val 7273"/>
            </a:avLst>
          </a:prstGeom>
          <a:solidFill>
            <a:schemeClr val="tx2"/>
          </a:solidFill>
          <a:ln w="12700">
            <a:solidFill>
              <a:schemeClr val="tx2"/>
            </a:solidFill>
            <a:prstDash val="solid"/>
          </a:ln>
        </p:spPr>
      </p:sp>
      <p:sp>
        <p:nvSpPr>
          <p:cNvPr id="19" name="family callout text"/>
          <p:cNvSpPr txBox="1"/>
          <p:nvPr/>
        </p:nvSpPr>
        <p:spPr>
          <a:xfrm>
            <a:off x="822960" y="4846320"/>
            <a:ext cx="10515600" cy="1005840"/>
          </a:xfrm>
          <a:prstGeom prst="rect">
            <a:avLst/>
          </a:prstGeom>
          <a:noFill/>
          <a:ln/>
        </p:spPr>
        <p:txBody>
          <a:bodyPr wrap="square" lIns="0" tIns="0" rIns="0" bIns="0" rtlCol="0" anchor="ctr"/>
          <a:lstStyle/>
          <a:p>
            <a:pPr indent="0" marL="0">
              <a:buNone/>
            </a:pPr>
            <a:r>
              <a:rPr lang="en-US" sz="1800" b="1" dirty="0">
                <a:solidFill>
                  <a:schemeClr val="bg1"/>
                </a:solidFill>
              </a:rPr>
              <a:t>Leave and pay are assessed separately: an employee can be entitled to the leave but not to the pay.</a:t>
            </a:r>
            <a:endParaRPr lang="en-US" sz="18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2468880"/>
            <a:ext cx="10698480" cy="1188720"/>
          </a:xfrm>
          <a:prstGeom prst="rect">
            <a:avLst/>
          </a:prstGeom>
          <a:noFill/>
          <a:ln/>
        </p:spPr>
        <p:txBody>
          <a:bodyPr wrap="square" lIns="0" tIns="0" rIns="0" bIns="0" rtlCol="0" anchor="ctr"/>
          <a:lstStyle/>
          <a:p>
            <a:pPr algn="l" indent="0" marL="0">
              <a:buNone/>
            </a:pPr>
            <a:r>
              <a:rPr lang="en-US" sz="4000" b="1" dirty="0">
                <a:solidFill>
                  <a:schemeClr val="bg1"/>
                </a:solidFill>
              </a:rPr>
              <a:t>Hybrid working, expenses and AI</a:t>
            </a:r>
            <a:endParaRPr lang="en-US" sz="4000" dirty="0"/>
          </a:p>
        </p:txBody>
      </p:sp>
      <p:sp>
        <p:nvSpPr>
          <p:cNvPr id="3" name="Text 0"/>
          <p:cNvSpPr/>
          <p:nvPr>
            <p:ph idx="101" type="body" hasCustomPrompt="1"/>
          </p:nvPr>
        </p:nvSpPr>
        <p:spPr>
          <a:xfrm>
            <a:off x="731520" y="3657600"/>
            <a:ext cx="10698480" cy="731520"/>
          </a:xfrm>
          <a:prstGeom prst="rect">
            <a:avLst/>
          </a:prstGeom>
          <a:noFill/>
          <a:ln/>
        </p:spPr>
        <p:txBody>
          <a:bodyPr wrap="square" lIns="0" tIns="0" rIns="0" bIns="0" rtlCol="0" anchor="t"/>
          <a:lstStyle/>
          <a:p>
            <a:pPr indent="0" marL="0">
              <a:buNone/>
            </a:pPr>
            <a:r>
              <a:rPr lang="en-US" sz="1800" dirty="0">
                <a:solidFill>
                  <a:schemeClr val="bg2"/>
                </a:solidFill>
              </a:rPr>
              <a:t>NDS-HR-HFW-005 v1.1  ·  NDS-FIN-EXP-003 v1.1  ·  NDS-SEC-ITG-004 v2.0</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Hybrid attendance and working abroad</a:t>
            </a:r>
            <a:endParaRPr lang="en-US" sz="3600" dirty="0"/>
          </a:p>
        </p:txBody>
      </p:sp>
      <p:sp>
        <p:nvSpPr>
          <p:cNvPr id="3" name="attendance card"/>
          <p:cNvSpPr/>
          <p:nvPr/>
        </p:nvSpPr>
        <p:spPr>
          <a:xfrm>
            <a:off x="548640" y="1371600"/>
            <a:ext cx="5394960" cy="2103120"/>
          </a:xfrm>
          <a:prstGeom prst="roundRect">
            <a:avLst>
              <a:gd name="adj" fmla="val 3478"/>
            </a:avLst>
          </a:prstGeom>
          <a:solidFill>
            <a:schemeClr val="bg2"/>
          </a:solidFill>
          <a:ln w="12700">
            <a:solidFill>
              <a:schemeClr val="bg2"/>
            </a:solidFill>
            <a:prstDash val="solid"/>
          </a:ln>
        </p:spPr>
      </p:sp>
      <p:sp>
        <p:nvSpPr>
          <p:cNvPr id="4" name="attendance icon bg"/>
          <p:cNvSpPr/>
          <p:nvPr/>
        </p:nvSpPr>
        <p:spPr>
          <a:xfrm>
            <a:off x="777240" y="1600200"/>
            <a:ext cx="548640" cy="548640"/>
          </a:xfrm>
          <a:prstGeom prst="ellipse">
            <a:avLst/>
          </a:prstGeom>
          <a:solidFill>
            <a:schemeClr val="tx2"/>
          </a:solidFill>
          <a:ln w="12700">
            <a:solidFill>
              <a:schemeClr val="tx2"/>
            </a:solidFill>
            <a:prstDash val="solid"/>
          </a:ln>
        </p:spPr>
      </p:sp>
      <p:pic>
        <p:nvPicPr>
          <p:cNvPr id="5" name="attendance icon" descr="preencoded.png">    </p:cNvPr>
          <p:cNvPicPr>
            <a:picLocks noChangeAspect="1"/>
          </p:cNvPicPr>
          <p:nvPr/>
        </p:nvPicPr>
        <p:blipFill>
          <a:blip r:embed="rId1"/>
          <a:stretch>
            <a:fillRect/>
          </a:stretch>
        </p:blipFill>
        <p:spPr>
          <a:xfrm>
            <a:off x="886968" y="1709928"/>
            <a:ext cx="329184" cy="329184"/>
          </a:xfrm>
          <a:prstGeom prst="rect">
            <a:avLst/>
          </a:prstGeom>
        </p:spPr>
      </p:pic>
      <p:sp>
        <p:nvSpPr>
          <p:cNvPr id="6" name="attendance title"/>
          <p:cNvSpPr txBox="1"/>
          <p:nvPr/>
        </p:nvSpPr>
        <p:spPr>
          <a:xfrm>
            <a:off x="1463040" y="1572768"/>
            <a:ext cx="4297680" cy="603504"/>
          </a:xfrm>
          <a:prstGeom prst="rect">
            <a:avLst/>
          </a:prstGeom>
          <a:noFill/>
          <a:ln/>
        </p:spPr>
        <p:txBody>
          <a:bodyPr wrap="square" lIns="0" tIns="0" rIns="0" bIns="0" rtlCol="0" anchor="ctr"/>
          <a:lstStyle/>
          <a:p>
            <a:pPr indent="0" marL="0">
              <a:buNone/>
            </a:pPr>
            <a:r>
              <a:rPr lang="en-US" sz="1800" b="1" dirty="0">
                <a:solidFill>
                  <a:schemeClr val="tx2"/>
                </a:solidFill>
              </a:rPr>
              <a:t>8 days per rolling 4 weeks</a:t>
            </a:r>
            <a:endParaRPr lang="en-US" sz="1800" dirty="0"/>
          </a:p>
        </p:txBody>
      </p:sp>
      <p:sp>
        <p:nvSpPr>
          <p:cNvPr id="7" name="attendance body"/>
          <p:cNvSpPr txBox="1"/>
          <p:nvPr/>
        </p:nvSpPr>
        <p:spPr>
          <a:xfrm>
            <a:off x="822960" y="2286000"/>
            <a:ext cx="4892040" cy="105156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Office, customer site or approved off-site event. Pro-rated and rounded up for part-time staff and for absence. New starters attend 3 days a week for their first 4 weeks.</a:t>
            </a:r>
            <a:endParaRPr lang="en-US" sz="1600" dirty="0"/>
          </a:p>
        </p:txBody>
      </p:sp>
      <p:sp>
        <p:nvSpPr>
          <p:cNvPr id="8" name="abroad card"/>
          <p:cNvSpPr/>
          <p:nvPr/>
        </p:nvSpPr>
        <p:spPr>
          <a:xfrm>
            <a:off x="6217920" y="1371600"/>
            <a:ext cx="5394960" cy="2103120"/>
          </a:xfrm>
          <a:prstGeom prst="roundRect">
            <a:avLst>
              <a:gd name="adj" fmla="val 3478"/>
            </a:avLst>
          </a:prstGeom>
          <a:solidFill>
            <a:schemeClr val="bg2"/>
          </a:solidFill>
          <a:ln w="12700">
            <a:solidFill>
              <a:schemeClr val="bg2"/>
            </a:solidFill>
            <a:prstDash val="solid"/>
          </a:ln>
        </p:spPr>
      </p:sp>
      <p:sp>
        <p:nvSpPr>
          <p:cNvPr id="9" name="abroad icon bg"/>
          <p:cNvSpPr/>
          <p:nvPr/>
        </p:nvSpPr>
        <p:spPr>
          <a:xfrm>
            <a:off x="6446520" y="1600200"/>
            <a:ext cx="548640" cy="548640"/>
          </a:xfrm>
          <a:prstGeom prst="ellipse">
            <a:avLst/>
          </a:prstGeom>
          <a:solidFill>
            <a:schemeClr val="tx2"/>
          </a:solidFill>
          <a:ln w="12700">
            <a:solidFill>
              <a:schemeClr val="tx2"/>
            </a:solidFill>
            <a:prstDash val="solid"/>
          </a:ln>
        </p:spPr>
      </p:sp>
      <p:pic>
        <p:nvPicPr>
          <p:cNvPr id="10" name="abroad icon" descr="preencoded.png">    </p:cNvPr>
          <p:cNvPicPr>
            <a:picLocks noChangeAspect="1"/>
          </p:cNvPicPr>
          <p:nvPr/>
        </p:nvPicPr>
        <p:blipFill>
          <a:blip r:embed="rId2"/>
          <a:stretch>
            <a:fillRect/>
          </a:stretch>
        </p:blipFill>
        <p:spPr>
          <a:xfrm>
            <a:off x="6556248" y="1709928"/>
            <a:ext cx="329184" cy="329184"/>
          </a:xfrm>
          <a:prstGeom prst="rect">
            <a:avLst/>
          </a:prstGeom>
        </p:spPr>
      </p:pic>
      <p:sp>
        <p:nvSpPr>
          <p:cNvPr id="11" name="abroad title"/>
          <p:cNvSpPr txBox="1"/>
          <p:nvPr/>
        </p:nvSpPr>
        <p:spPr>
          <a:xfrm>
            <a:off x="7132320" y="1572768"/>
            <a:ext cx="4297680" cy="603504"/>
          </a:xfrm>
          <a:prstGeom prst="rect">
            <a:avLst/>
          </a:prstGeom>
          <a:noFill/>
          <a:ln/>
        </p:spPr>
        <p:txBody>
          <a:bodyPr wrap="square" lIns="0" tIns="0" rIns="0" bIns="0" rtlCol="0" anchor="ctr"/>
          <a:lstStyle/>
          <a:p>
            <a:pPr indent="0" marL="0">
              <a:buNone/>
            </a:pPr>
            <a:r>
              <a:rPr lang="en-US" sz="1800" b="1" dirty="0">
                <a:solidFill>
                  <a:schemeClr val="tx2"/>
                </a:solidFill>
              </a:rPr>
              <a:t>Work From Abroad: 10 days</a:t>
            </a:r>
            <a:endParaRPr lang="en-US" sz="1800" dirty="0"/>
          </a:p>
        </p:txBody>
      </p:sp>
      <p:sp>
        <p:nvSpPr>
          <p:cNvPr id="12" name="abroad body"/>
          <p:cNvSpPr txBox="1"/>
          <p:nvPr/>
        </p:nvSpPr>
        <p:spPr>
          <a:xfrm>
            <a:off x="6492240" y="2286000"/>
            <a:ext cx="4892040" cy="105156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Maximum 10 working days in a rolling 12 months. Request 4 weeks ahead; line manager, People Operations and IT Security must all approve.</a:t>
            </a:r>
            <a:endParaRPr lang="en-US" sz="1600" dirty="0"/>
          </a:p>
        </p:txBody>
      </p:sp>
      <p:sp>
        <p:nvSpPr>
          <p:cNvPr id="13" name="restricted abroad card"/>
          <p:cNvSpPr/>
          <p:nvPr/>
        </p:nvSpPr>
        <p:spPr>
          <a:xfrm>
            <a:off x="548640" y="3749040"/>
            <a:ext cx="5394960" cy="2103120"/>
          </a:xfrm>
          <a:prstGeom prst="roundRect">
            <a:avLst>
              <a:gd name="adj" fmla="val 3478"/>
            </a:avLst>
          </a:prstGeom>
          <a:solidFill>
            <a:schemeClr val="bg2"/>
          </a:solidFill>
          <a:ln w="12700">
            <a:solidFill>
              <a:schemeClr val="bg2"/>
            </a:solidFill>
            <a:prstDash val="solid"/>
          </a:ln>
        </p:spPr>
      </p:sp>
      <p:sp>
        <p:nvSpPr>
          <p:cNvPr id="14" name="restricted abroad icon bg"/>
          <p:cNvSpPr/>
          <p:nvPr/>
        </p:nvSpPr>
        <p:spPr>
          <a:xfrm>
            <a:off x="777240" y="3977640"/>
            <a:ext cx="548640" cy="548640"/>
          </a:xfrm>
          <a:prstGeom prst="ellipse">
            <a:avLst/>
          </a:prstGeom>
          <a:solidFill>
            <a:schemeClr val="tx2"/>
          </a:solidFill>
          <a:ln w="12700">
            <a:solidFill>
              <a:schemeClr val="tx2"/>
            </a:solidFill>
            <a:prstDash val="solid"/>
          </a:ln>
        </p:spPr>
      </p:sp>
      <p:pic>
        <p:nvPicPr>
          <p:cNvPr id="15" name="restricted abroad icon" descr="preencoded.png">    </p:cNvPr>
          <p:cNvPicPr>
            <a:picLocks noChangeAspect="1"/>
          </p:cNvPicPr>
          <p:nvPr/>
        </p:nvPicPr>
        <p:blipFill>
          <a:blip r:embed="rId3"/>
          <a:stretch>
            <a:fillRect/>
          </a:stretch>
        </p:blipFill>
        <p:spPr>
          <a:xfrm>
            <a:off x="886968" y="4087368"/>
            <a:ext cx="329184" cy="329184"/>
          </a:xfrm>
          <a:prstGeom prst="rect">
            <a:avLst/>
          </a:prstGeom>
        </p:spPr>
      </p:pic>
      <p:sp>
        <p:nvSpPr>
          <p:cNvPr id="16" name="restricted abroad title"/>
          <p:cNvSpPr txBox="1"/>
          <p:nvPr/>
        </p:nvSpPr>
        <p:spPr>
          <a:xfrm>
            <a:off x="1463040" y="3950208"/>
            <a:ext cx="4297680" cy="603504"/>
          </a:xfrm>
          <a:prstGeom prst="rect">
            <a:avLst/>
          </a:prstGeom>
          <a:noFill/>
          <a:ln/>
        </p:spPr>
        <p:txBody>
          <a:bodyPr wrap="square" lIns="0" tIns="0" rIns="0" bIns="0" rtlCol="0" anchor="ctr"/>
          <a:lstStyle/>
          <a:p>
            <a:pPr indent="0" marL="0">
              <a:buNone/>
            </a:pPr>
            <a:r>
              <a:rPr lang="en-US" sz="1800" b="1" dirty="0">
                <a:solidFill>
                  <a:schemeClr val="tx2"/>
                </a:solidFill>
              </a:rPr>
              <a:t>No Restricted data abroad</a:t>
            </a:r>
            <a:endParaRPr lang="en-US" sz="1800" dirty="0"/>
          </a:p>
        </p:txBody>
      </p:sp>
      <p:sp>
        <p:nvSpPr>
          <p:cNvPr id="17" name="restricted abroad body"/>
          <p:cNvSpPr txBox="1"/>
          <p:nvPr/>
        </p:nvSpPr>
        <p:spPr>
          <a:xfrm>
            <a:off x="822960" y="4663440"/>
            <a:ext cx="4892040" cy="105156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Restricted information cannot be accessed from outside the UK without written CISO approval and customer contract permission.</a:t>
            </a:r>
            <a:endParaRPr lang="en-US" sz="1600" dirty="0"/>
          </a:p>
        </p:txBody>
      </p:sp>
      <p:sp>
        <p:nvSpPr>
          <p:cNvPr id="18" name="not eligible card"/>
          <p:cNvSpPr/>
          <p:nvPr/>
        </p:nvSpPr>
        <p:spPr>
          <a:xfrm>
            <a:off x="6217920" y="3749040"/>
            <a:ext cx="5394960" cy="2103120"/>
          </a:xfrm>
          <a:prstGeom prst="roundRect">
            <a:avLst>
              <a:gd name="adj" fmla="val 3478"/>
            </a:avLst>
          </a:prstGeom>
          <a:solidFill>
            <a:schemeClr val="bg2"/>
          </a:solidFill>
          <a:ln w="12700">
            <a:solidFill>
              <a:schemeClr val="bg2"/>
            </a:solidFill>
            <a:prstDash val="solid"/>
          </a:ln>
        </p:spPr>
      </p:sp>
      <p:sp>
        <p:nvSpPr>
          <p:cNvPr id="19" name="not eligible icon bg"/>
          <p:cNvSpPr/>
          <p:nvPr/>
        </p:nvSpPr>
        <p:spPr>
          <a:xfrm>
            <a:off x="6446520" y="3977640"/>
            <a:ext cx="548640" cy="548640"/>
          </a:xfrm>
          <a:prstGeom prst="ellipse">
            <a:avLst/>
          </a:prstGeom>
          <a:solidFill>
            <a:schemeClr val="tx2"/>
          </a:solidFill>
          <a:ln w="12700">
            <a:solidFill>
              <a:schemeClr val="tx2"/>
            </a:solidFill>
            <a:prstDash val="solid"/>
          </a:ln>
        </p:spPr>
      </p:sp>
      <p:pic>
        <p:nvPicPr>
          <p:cNvPr id="20" name="not eligible icon" descr="preencoded.png">    </p:cNvPr>
          <p:cNvPicPr>
            <a:picLocks noChangeAspect="1"/>
          </p:cNvPicPr>
          <p:nvPr/>
        </p:nvPicPr>
        <p:blipFill>
          <a:blip r:embed="rId4"/>
          <a:stretch>
            <a:fillRect/>
          </a:stretch>
        </p:blipFill>
        <p:spPr>
          <a:xfrm>
            <a:off x="6556248" y="4087368"/>
            <a:ext cx="329184" cy="329184"/>
          </a:xfrm>
          <a:prstGeom prst="rect">
            <a:avLst/>
          </a:prstGeom>
        </p:spPr>
      </p:pic>
      <p:sp>
        <p:nvSpPr>
          <p:cNvPr id="21" name="not eligible title"/>
          <p:cNvSpPr txBox="1"/>
          <p:nvPr/>
        </p:nvSpPr>
        <p:spPr>
          <a:xfrm>
            <a:off x="7132320" y="3950208"/>
            <a:ext cx="4297680" cy="603504"/>
          </a:xfrm>
          <a:prstGeom prst="rect">
            <a:avLst/>
          </a:prstGeom>
          <a:noFill/>
          <a:ln/>
        </p:spPr>
        <p:txBody>
          <a:bodyPr wrap="square" lIns="0" tIns="0" rIns="0" bIns="0" rtlCol="0" anchor="ctr"/>
          <a:lstStyle/>
          <a:p>
            <a:pPr indent="0" marL="0">
              <a:buNone/>
            </a:pPr>
            <a:r>
              <a:rPr lang="en-US" sz="1800" b="1" dirty="0">
                <a:solidFill>
                  <a:schemeClr val="tx2"/>
                </a:solidFill>
              </a:rPr>
              <a:t>Not eligible</a:t>
            </a:r>
            <a:endParaRPr lang="en-US" sz="1800" dirty="0"/>
          </a:p>
        </p:txBody>
      </p:sp>
      <p:sp>
        <p:nvSpPr>
          <p:cNvPr id="22" name="not eligible body"/>
          <p:cNvSpPr txBox="1"/>
          <p:nvPr/>
        </p:nvSpPr>
        <p:spPr>
          <a:xfrm>
            <a:off x="6492240" y="4663440"/>
            <a:ext cx="4892040" cy="105156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Employees in probation or serving notice cannot work from abroad. Business trips at Northstar's request do not count towards the 10 days.</a:t>
            </a:r>
            <a:endParaRPr lang="en-US" sz="16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Expenses: what approvers should check</a:t>
            </a:r>
            <a:endParaRPr lang="en-US" sz="3600" dirty="0"/>
          </a:p>
        </p:txBody>
      </p:sp>
      <p:graphicFrame>
        <p:nvGraphicFramePr>
          <p:cNvPr id="11" name="expense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560320"/>
                <a:gridCol w="8503920"/>
              </a:tblGrid>
              <a:tr h="548640">
                <a:tc>
                  <a:txBody>
                    <a:bodyPr/>
                    <a:lstStyle/>
                    <a:p>
                      <a:pPr indent="0" marL="0">
                        <a:buNone/>
                      </a:pPr>
                      <a:r>
                        <a:rPr lang="en-US" sz="1400" b="1" dirty="0">
                          <a:solidFill>
                            <a:schemeClr val="bg1"/>
                          </a:solidFill>
                        </a:rPr>
                        <a:t>Item</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Rule from 1 October 2026</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tx2"/>
                    </a:solidFill>
                  </a:tcPr>
                </a:tc>
              </a:tr>
              <a:tr h="548640">
                <a:tc>
                  <a:txBody>
                    <a:bodyPr/>
                    <a:lstStyle/>
                    <a:p>
                      <a:pPr indent="0" marL="0">
                        <a:buNone/>
                      </a:pPr>
                      <a:r>
                        <a:rPr lang="en-US" sz="1400" dirty="0">
                          <a:solidFill>
                            <a:schemeClr val="tx1"/>
                          </a:solidFill>
                        </a:rPr>
                        <a:t>Claim deadline</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30 calendar days; 31–90 days needs HoD approval; over 90 days not paid without Finance Director exception</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r>
              <a:tr h="548640">
                <a:tc>
                  <a:txBody>
                    <a:bodyPr/>
                    <a:lstStyle/>
                    <a:p>
                      <a:pPr indent="0" marL="0">
                        <a:buNone/>
                      </a:pPr>
                      <a:r>
                        <a:rPr lang="en-US" sz="1400" dirty="0">
                          <a:solidFill>
                            <a:schemeClr val="tx1"/>
                          </a:solidFill>
                        </a:rPr>
                        <a:t>Leavers</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All claims within 10 working days after the leaving date</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r>
              <a:tr h="548640">
                <a:tc>
                  <a:txBody>
                    <a:bodyPr/>
                    <a:lstStyle/>
                    <a:p>
                      <a:pPr indent="0" marL="0">
                        <a:buNone/>
                      </a:pPr>
                      <a:r>
                        <a:rPr lang="en-US" sz="1400" dirty="0">
                          <a:solidFill>
                            <a:schemeClr val="tx1"/>
                          </a:solidFill>
                        </a:rPr>
                        <a:t>Car mileage</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55p per mile for the first 10,000 business miles, then 25p; commuting miles deducted</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r>
              <a:tr h="548640">
                <a:tc>
                  <a:txBody>
                    <a:bodyPr/>
                    <a:lstStyle/>
                    <a:p>
                      <a:pPr indent="0" marL="0">
                        <a:buNone/>
                      </a:pPr>
                      <a:r>
                        <a:rPr lang="en-US" sz="1400" dirty="0">
                          <a:solidFill>
                            <a:schemeClr val="tx1"/>
                          </a:solidFill>
                        </a:rPr>
                        <a:t>UK meals</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Breakfast £12, lunch £15, dinner £35; daily cap £55 on overnight trips</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r>
              <a:tr h="548640">
                <a:tc>
                  <a:txBody>
                    <a:bodyPr/>
                    <a:lstStyle/>
                    <a:p>
                      <a:pPr indent="0" marL="0">
                        <a:buNone/>
                      </a:pPr>
                      <a:r>
                        <a:rPr lang="en-US" sz="1400" dirty="0">
                          <a:solidFill>
                            <a:schemeClr val="tx1"/>
                          </a:solidFill>
                        </a:rPr>
                        <a:t>Missing receipts</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Declaration allowed up to £75 per item, twice per quarter</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r>
              <a:tr h="548640">
                <a:tc>
                  <a:txBody>
                    <a:bodyPr/>
                    <a:lstStyle/>
                    <a:p>
                      <a:pPr indent="0" marL="0">
                        <a:buNone/>
                      </a:pPr>
                      <a:r>
                        <a:rPr lang="en-US" sz="1400" dirty="0">
                          <a:solidFill>
                            <a:schemeClr val="tx1"/>
                          </a:solidFill>
                        </a:rPr>
                        <a:t>Approval thresholds</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Up to £250 line manager; to £1,000 + HoD; to £5,000 + Director; above + Finance Director</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Generative AI: what your team may do</a:t>
            </a:r>
            <a:endParaRPr lang="en-US" sz="3600" dirty="0"/>
          </a:p>
        </p:txBody>
      </p:sp>
      <p:sp>
        <p:nvSpPr>
          <p:cNvPr id="3" name="allowed card"/>
          <p:cNvSpPr/>
          <p:nvPr/>
        </p:nvSpPr>
        <p:spPr>
          <a:xfrm>
            <a:off x="548640" y="1371600"/>
            <a:ext cx="3520440" cy="3200400"/>
          </a:xfrm>
          <a:prstGeom prst="roundRect">
            <a:avLst>
              <a:gd name="adj" fmla="val 2286"/>
            </a:avLst>
          </a:prstGeom>
          <a:solidFill>
            <a:schemeClr val="bg2"/>
          </a:solidFill>
          <a:ln w="12700">
            <a:solidFill>
              <a:schemeClr val="bg2"/>
            </a:solidFill>
            <a:prstDash val="solid"/>
          </a:ln>
        </p:spPr>
      </p:sp>
      <p:sp>
        <p:nvSpPr>
          <p:cNvPr id="4" name="allowed icon bg"/>
          <p:cNvSpPr/>
          <p:nvPr/>
        </p:nvSpPr>
        <p:spPr>
          <a:xfrm>
            <a:off x="777240" y="1600200"/>
            <a:ext cx="548640" cy="548640"/>
          </a:xfrm>
          <a:prstGeom prst="ellipse">
            <a:avLst/>
          </a:prstGeom>
          <a:solidFill>
            <a:schemeClr val="tx2"/>
          </a:solidFill>
          <a:ln w="12700">
            <a:solidFill>
              <a:schemeClr val="tx2"/>
            </a:solidFill>
            <a:prstDash val="solid"/>
          </a:ln>
        </p:spPr>
      </p:sp>
      <p:pic>
        <p:nvPicPr>
          <p:cNvPr id="5" name="allowed icon" descr="preencoded.png">    </p:cNvPr>
          <p:cNvPicPr>
            <a:picLocks noChangeAspect="1"/>
          </p:cNvPicPr>
          <p:nvPr/>
        </p:nvPicPr>
        <p:blipFill>
          <a:blip r:embed="rId1"/>
          <a:stretch>
            <a:fillRect/>
          </a:stretch>
        </p:blipFill>
        <p:spPr>
          <a:xfrm>
            <a:off x="886968" y="1709928"/>
            <a:ext cx="329184" cy="329184"/>
          </a:xfrm>
          <a:prstGeom prst="rect">
            <a:avLst/>
          </a:prstGeom>
        </p:spPr>
      </p:pic>
      <p:sp>
        <p:nvSpPr>
          <p:cNvPr id="6" name="allowed title"/>
          <p:cNvSpPr txBox="1"/>
          <p:nvPr/>
        </p:nvSpPr>
        <p:spPr>
          <a:xfrm>
            <a:off x="1463040" y="1572768"/>
            <a:ext cx="2423160" cy="603504"/>
          </a:xfrm>
          <a:prstGeom prst="rect">
            <a:avLst/>
          </a:prstGeom>
          <a:noFill/>
          <a:ln/>
        </p:spPr>
        <p:txBody>
          <a:bodyPr wrap="square" lIns="0" tIns="0" rIns="0" bIns="0" rtlCol="0" anchor="ctr"/>
          <a:lstStyle/>
          <a:p>
            <a:pPr indent="0" marL="0">
              <a:buNone/>
            </a:pPr>
            <a:r>
              <a:rPr lang="en-US" sz="1800" b="1" dirty="0">
                <a:solidFill>
                  <a:schemeClr val="tx2"/>
                </a:solidFill>
              </a:rPr>
              <a:t>Allowed</a:t>
            </a:r>
            <a:endParaRPr lang="en-US" sz="1800" dirty="0"/>
          </a:p>
        </p:txBody>
      </p:sp>
      <p:sp>
        <p:nvSpPr>
          <p:cNvPr id="7" name="allowed body"/>
          <p:cNvSpPr txBox="1"/>
          <p:nvPr/>
        </p:nvSpPr>
        <p:spPr>
          <a:xfrm>
            <a:off x="822960" y="2286000"/>
            <a:ext cx="3017520" cy="214884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Northstar Assist with Internal or Confidential Northstar information. CodePilot Enterprise on Northstar code. Consumer tools with Public information only.</a:t>
            </a:r>
            <a:endParaRPr lang="en-US" sz="1600" dirty="0"/>
          </a:p>
        </p:txBody>
      </p:sp>
      <p:sp>
        <p:nvSpPr>
          <p:cNvPr id="8" name="conditional card"/>
          <p:cNvSpPr/>
          <p:nvPr/>
        </p:nvSpPr>
        <p:spPr>
          <a:xfrm>
            <a:off x="4325112" y="1371600"/>
            <a:ext cx="3520440" cy="3200400"/>
          </a:xfrm>
          <a:prstGeom prst="roundRect">
            <a:avLst>
              <a:gd name="adj" fmla="val 2286"/>
            </a:avLst>
          </a:prstGeom>
          <a:solidFill>
            <a:schemeClr val="bg2"/>
          </a:solidFill>
          <a:ln w="12700">
            <a:solidFill>
              <a:schemeClr val="bg2"/>
            </a:solidFill>
            <a:prstDash val="solid"/>
          </a:ln>
        </p:spPr>
      </p:sp>
      <p:sp>
        <p:nvSpPr>
          <p:cNvPr id="9" name="conditional icon bg"/>
          <p:cNvSpPr/>
          <p:nvPr/>
        </p:nvSpPr>
        <p:spPr>
          <a:xfrm>
            <a:off x="4553712" y="1600200"/>
            <a:ext cx="548640" cy="548640"/>
          </a:xfrm>
          <a:prstGeom prst="ellipse">
            <a:avLst/>
          </a:prstGeom>
          <a:solidFill>
            <a:schemeClr val="tx2"/>
          </a:solidFill>
          <a:ln w="12700">
            <a:solidFill>
              <a:schemeClr val="tx2"/>
            </a:solidFill>
            <a:prstDash val="solid"/>
          </a:ln>
        </p:spPr>
      </p:sp>
      <p:pic>
        <p:nvPicPr>
          <p:cNvPr id="10" name="conditional icon" descr="preencoded.png">    </p:cNvPr>
          <p:cNvPicPr>
            <a:picLocks noChangeAspect="1"/>
          </p:cNvPicPr>
          <p:nvPr/>
        </p:nvPicPr>
        <p:blipFill>
          <a:blip r:embed="rId2"/>
          <a:stretch>
            <a:fillRect/>
          </a:stretch>
        </p:blipFill>
        <p:spPr>
          <a:xfrm>
            <a:off x="4663440" y="1709928"/>
            <a:ext cx="329184" cy="329184"/>
          </a:xfrm>
          <a:prstGeom prst="rect">
            <a:avLst/>
          </a:prstGeom>
        </p:spPr>
      </p:pic>
      <p:sp>
        <p:nvSpPr>
          <p:cNvPr id="11" name="conditional title"/>
          <p:cNvSpPr txBox="1"/>
          <p:nvPr/>
        </p:nvSpPr>
        <p:spPr>
          <a:xfrm>
            <a:off x="5239512" y="1572768"/>
            <a:ext cx="2423160" cy="603504"/>
          </a:xfrm>
          <a:prstGeom prst="rect">
            <a:avLst/>
          </a:prstGeom>
          <a:noFill/>
          <a:ln/>
        </p:spPr>
        <p:txBody>
          <a:bodyPr wrap="square" lIns="0" tIns="0" rIns="0" bIns="0" rtlCol="0" anchor="ctr"/>
          <a:lstStyle/>
          <a:p>
            <a:pPr indent="0" marL="0">
              <a:buNone/>
            </a:pPr>
            <a:r>
              <a:rPr lang="en-US" sz="1800" b="1" dirty="0">
                <a:solidFill>
                  <a:schemeClr val="tx2"/>
                </a:solidFill>
              </a:rPr>
              <a:t>Conditional</a:t>
            </a:r>
            <a:endParaRPr lang="en-US" sz="1800" dirty="0"/>
          </a:p>
        </p:txBody>
      </p:sp>
      <p:sp>
        <p:nvSpPr>
          <p:cNvPr id="12" name="conditional body"/>
          <p:cNvSpPr txBox="1"/>
          <p:nvPr/>
        </p:nvSpPr>
        <p:spPr>
          <a:xfrm>
            <a:off x="4599432" y="2286000"/>
            <a:ext cx="3017520" cy="214884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Customer information only where the contract permits AI processing. Any AI use in decisions about people needs a DPIA, People Operations approval and a human decision-maker.</a:t>
            </a:r>
            <a:endParaRPr lang="en-US" sz="1600" dirty="0"/>
          </a:p>
        </p:txBody>
      </p:sp>
      <p:sp>
        <p:nvSpPr>
          <p:cNvPr id="13" name="prohibited card"/>
          <p:cNvSpPr/>
          <p:nvPr/>
        </p:nvSpPr>
        <p:spPr>
          <a:xfrm>
            <a:off x="8101584" y="1371600"/>
            <a:ext cx="3520440" cy="3200400"/>
          </a:xfrm>
          <a:prstGeom prst="roundRect">
            <a:avLst>
              <a:gd name="adj" fmla="val 2286"/>
            </a:avLst>
          </a:prstGeom>
          <a:solidFill>
            <a:schemeClr val="bg2"/>
          </a:solidFill>
          <a:ln w="12700">
            <a:solidFill>
              <a:schemeClr val="bg2"/>
            </a:solidFill>
            <a:prstDash val="solid"/>
          </a:ln>
        </p:spPr>
      </p:sp>
      <p:sp>
        <p:nvSpPr>
          <p:cNvPr id="14" name="prohibited icon bg"/>
          <p:cNvSpPr/>
          <p:nvPr/>
        </p:nvSpPr>
        <p:spPr>
          <a:xfrm>
            <a:off x="8330184" y="1600200"/>
            <a:ext cx="548640" cy="548640"/>
          </a:xfrm>
          <a:prstGeom prst="ellipse">
            <a:avLst/>
          </a:prstGeom>
          <a:solidFill>
            <a:schemeClr val="tx2"/>
          </a:solidFill>
          <a:ln w="12700">
            <a:solidFill>
              <a:schemeClr val="tx2"/>
            </a:solidFill>
            <a:prstDash val="solid"/>
          </a:ln>
        </p:spPr>
      </p:sp>
      <p:pic>
        <p:nvPicPr>
          <p:cNvPr id="15" name="prohibited icon" descr="preencoded.png">    </p:cNvPr>
          <p:cNvPicPr>
            <a:picLocks noChangeAspect="1"/>
          </p:cNvPicPr>
          <p:nvPr/>
        </p:nvPicPr>
        <p:blipFill>
          <a:blip r:embed="rId3"/>
          <a:stretch>
            <a:fillRect/>
          </a:stretch>
        </p:blipFill>
        <p:spPr>
          <a:xfrm>
            <a:off x="8439912" y="1709928"/>
            <a:ext cx="329184" cy="329184"/>
          </a:xfrm>
          <a:prstGeom prst="rect">
            <a:avLst/>
          </a:prstGeom>
        </p:spPr>
      </p:pic>
      <p:sp>
        <p:nvSpPr>
          <p:cNvPr id="16" name="prohibited title"/>
          <p:cNvSpPr txBox="1"/>
          <p:nvPr/>
        </p:nvSpPr>
        <p:spPr>
          <a:xfrm>
            <a:off x="9015984" y="1572768"/>
            <a:ext cx="2423160" cy="603504"/>
          </a:xfrm>
          <a:prstGeom prst="rect">
            <a:avLst/>
          </a:prstGeom>
          <a:noFill/>
          <a:ln/>
        </p:spPr>
        <p:txBody>
          <a:bodyPr wrap="square" lIns="0" tIns="0" rIns="0" bIns="0" rtlCol="0" anchor="ctr"/>
          <a:lstStyle/>
          <a:p>
            <a:pPr indent="0" marL="0">
              <a:buNone/>
            </a:pPr>
            <a:r>
              <a:rPr lang="en-US" sz="1800" b="1" dirty="0">
                <a:solidFill>
                  <a:schemeClr val="tx2"/>
                </a:solidFill>
              </a:rPr>
              <a:t>Prohibited</a:t>
            </a:r>
            <a:endParaRPr lang="en-US" sz="1800" dirty="0"/>
          </a:p>
        </p:txBody>
      </p:sp>
      <p:sp>
        <p:nvSpPr>
          <p:cNvPr id="17" name="prohibited body"/>
          <p:cNvSpPr txBox="1"/>
          <p:nvPr/>
        </p:nvSpPr>
        <p:spPr>
          <a:xfrm>
            <a:off x="8375904" y="2286000"/>
            <a:ext cx="3017520" cy="214884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Restricted information in any AI tool. Personal or Confidential data in consumer tools. Unapproved agents, plugins or MCP servers. Acting on instructions found in retrieved content.</a:t>
            </a:r>
            <a:endParaRPr lang="en-US" sz="1600" dirty="0"/>
          </a:p>
        </p:txBody>
      </p:sp>
      <p:sp>
        <p:nvSpPr>
          <p:cNvPr id="18" name="ai callout box"/>
          <p:cNvSpPr/>
          <p:nvPr/>
        </p:nvSpPr>
        <p:spPr>
          <a:xfrm>
            <a:off x="548640" y="4846320"/>
            <a:ext cx="11064240" cy="1005840"/>
          </a:xfrm>
          <a:prstGeom prst="roundRect">
            <a:avLst>
              <a:gd name="adj" fmla="val 7273"/>
            </a:avLst>
          </a:prstGeom>
          <a:solidFill>
            <a:schemeClr val="tx2"/>
          </a:solidFill>
          <a:ln w="12700">
            <a:solidFill>
              <a:schemeClr val="tx2"/>
            </a:solidFill>
            <a:prstDash val="solid"/>
          </a:ln>
        </p:spPr>
      </p:sp>
      <p:sp>
        <p:nvSpPr>
          <p:cNvPr id="19" name="ai callout text"/>
          <p:cNvSpPr txBox="1"/>
          <p:nvPr/>
        </p:nvSpPr>
        <p:spPr>
          <a:xfrm>
            <a:off x="822960" y="4846320"/>
            <a:ext cx="10515600" cy="1005840"/>
          </a:xfrm>
          <a:prstGeom prst="rect">
            <a:avLst/>
          </a:prstGeom>
          <a:noFill/>
          <a:ln/>
        </p:spPr>
        <p:txBody>
          <a:bodyPr wrap="square" lIns="0" tIns="0" rIns="0" bIns="0" rtlCol="0" anchor="ctr"/>
          <a:lstStyle/>
          <a:p>
            <a:pPr indent="0" marL="0">
              <a:buNone/>
            </a:pPr>
            <a:r>
              <a:rPr lang="en-US" sz="1800" b="1" dirty="0">
                <a:solidFill>
                  <a:schemeClr val="bg1"/>
                </a:solidFill>
              </a:rPr>
              <a:t>No AI tool is approved for Restricted information: health, salary, bank details, credentials or customer production data.</a:t>
            </a:r>
            <a:endParaRPr lang="en-US" sz="18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Manager actions and key dates</a:t>
            </a:r>
            <a:endParaRPr lang="en-US" sz="3600" dirty="0"/>
          </a:p>
        </p:txBody>
      </p:sp>
      <p:graphicFrame>
        <p:nvGraphicFramePr>
          <p:cNvPr id="13" name="date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8321040"/>
              </a:tblGrid>
              <a:tr h="548640">
                <a:tc>
                  <a:txBody>
                    <a:bodyPr/>
                    <a:lstStyle/>
                    <a:p>
                      <a:pPr indent="0" marL="0">
                        <a:buNone/>
                      </a:pPr>
                      <a:r>
                        <a:rPr lang="en-US" sz="1400" b="1" dirty="0">
                          <a:solidFill>
                            <a:schemeClr val="bg1"/>
                          </a:solidFill>
                        </a:rPr>
                        <a:t>Date</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Action</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tx2"/>
                    </a:solidFill>
                  </a:tcPr>
                </a:tc>
              </a:tr>
              <a:tr h="548640">
                <a:tc>
                  <a:txBody>
                    <a:bodyPr/>
                    <a:lstStyle/>
                    <a:p>
                      <a:pPr indent="0" marL="0">
                        <a:buNone/>
                      </a:pPr>
                      <a:r>
                        <a:rPr lang="en-US" sz="1400" dirty="0">
                          <a:solidFill>
                            <a:schemeClr val="tx1"/>
                          </a:solidFill>
                        </a:rPr>
                        <a:t>1 October 2026</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New policy set effective. Use PeopleHub, not the archived leave policy</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r>
              <a:tr h="548640">
                <a:tc>
                  <a:txBody>
                    <a:bodyPr/>
                    <a:lstStyle/>
                    <a:p>
                      <a:pPr indent="0" marL="0">
                        <a:buNone/>
                      </a:pPr>
                      <a:r>
                        <a:rPr lang="en-US" sz="1400" dirty="0">
                          <a:solidFill>
                            <a:schemeClr val="tx1"/>
                          </a:solidFill>
                        </a:rPr>
                        <a:t>30 October 2026</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Strengthened duty to prevent sexual harassment expected to commence (legal review flag)</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r>
              <a:tr h="548640">
                <a:tc>
                  <a:txBody>
                    <a:bodyPr/>
                    <a:lstStyle/>
                    <a:p>
                      <a:pPr indent="0" marL="0">
                        <a:buNone/>
                      </a:pPr>
                      <a:r>
                        <a:rPr lang="en-US" sz="1400" dirty="0">
                          <a:solidFill>
                            <a:schemeClr val="tx1"/>
                          </a:solidFill>
                        </a:rPr>
                        <a:t>30 November 2026</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Deadline for employees to request exceptional carryover beyond 5 days</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r>
              <a:tr h="548640">
                <a:tc>
                  <a:txBody>
                    <a:bodyPr/>
                    <a:lstStyle/>
                    <a:p>
                      <a:pPr indent="0" marL="0">
                        <a:buNone/>
                      </a:pPr>
                      <a:r>
                        <a:rPr lang="en-US" sz="1400" dirty="0">
                          <a:solidFill>
                            <a:schemeClr val="tx1"/>
                          </a:solidFill>
                        </a:rPr>
                        <a:t>29–31 December 2026</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Company shutdown: 3 days of annual leave reserved</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r>
              <a:tr h="548640">
                <a:tc>
                  <a:txBody>
                    <a:bodyPr/>
                    <a:lstStyle/>
                    <a:p>
                      <a:pPr indent="0" marL="0">
                        <a:buNone/>
                      </a:pPr>
                      <a:r>
                        <a:rPr lang="en-US" sz="1400" dirty="0">
                          <a:solidFill>
                            <a:schemeClr val="tx1"/>
                          </a:solidFill>
                        </a:rPr>
                        <a:t>1 January 2027</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New service increments (28 and 29 days) take effect</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1"/>
                    </a:solidFill>
                  </a:tcPr>
                </a:tc>
              </a:tr>
              <a:tr h="548640">
                <a:tc>
                  <a:txBody>
                    <a:bodyPr/>
                    <a:lstStyle/>
                    <a:p>
                      <a:pPr indent="0" marL="0">
                        <a:buNone/>
                      </a:pPr>
                      <a:r>
                        <a:rPr lang="en-US" sz="1400" dirty="0">
                          <a:solidFill>
                            <a:schemeClr val="tx1"/>
                          </a:solidFill>
                        </a:rPr>
                        <a:t>31 March 2027</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Carried-over 2026 leave must be used</a:t>
                      </a:r>
                      <a:endParaRPr lang="en-US" sz="1400" dirty="0"/>
                    </a:p>
                  </a:txBody>
                  <a:tcPr marL="91440" marR="91440" marT="45720" marB="4572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400" b="1" dirty="0">
                <a:solidFill>
                  <a:schemeClr val="bg1"/>
                </a:solidFill>
              </a:rPr>
              <a:t>Where to find the rules</a:t>
            </a:r>
            <a:endParaRPr lang="en-US" sz="4400" dirty="0"/>
          </a:p>
        </p:txBody>
      </p:sp>
      <p:sp>
        <p:nvSpPr>
          <p:cNvPr id="3" name="Text 0"/>
          <p:cNvSpPr/>
          <p:nvPr>
            <p:ph idx="101" type="body" hasCustomPrompt="1"/>
          </p:nvPr>
        </p:nvSpPr>
        <p:spPr>
          <a:xfrm>
            <a:off x="731520" y="3657600"/>
            <a:ext cx="10698480" cy="822960"/>
          </a:xfrm>
          <a:prstGeom prst="rect">
            <a:avLst/>
          </a:prstGeom>
          <a:noFill/>
          <a:ln/>
        </p:spPr>
        <p:txBody>
          <a:bodyPr wrap="square" lIns="0" tIns="0" rIns="0" bIns="0" rtlCol="0" anchor="t"/>
          <a:lstStyle/>
          <a:p>
            <a:pPr indent="0" marL="0">
              <a:buNone/>
            </a:pPr>
            <a:r>
              <a:rPr lang="en-US" sz="2000" dirty="0">
                <a:solidFill>
                  <a:schemeClr val="bg2"/>
                </a:solidFill>
              </a:rPr>
              <a:t>Employee Handbook NDS-HR-HB-001 v2.0 and the four supporting standards on the policy library. Questions: people@northstar.example</a:t>
            </a:r>
            <a:endParaRPr lang="en-US" sz="2000" dirty="0"/>
          </a:p>
        </p:txBody>
      </p:sp>
      <p:sp>
        <p:nvSpPr>
          <p:cNvPr id="4" name="Text 0"/>
          <p:cNvSpPr/>
          <p:nvPr>
            <p:ph idx="102" type="body" hasCustomPrompt="1"/>
          </p:nvPr>
        </p:nvSpPr>
        <p:spPr>
          <a:xfrm>
            <a:off x="731520" y="5669280"/>
            <a:ext cx="10698480" cy="640080"/>
          </a:xfrm>
          <a:prstGeom prst="rect">
            <a:avLst/>
          </a:prstGeom>
          <a:noFill/>
          <a:ln/>
        </p:spPr>
        <p:txBody>
          <a:bodyPr wrap="square" lIns="0" tIns="0" rIns="0" bIns="0" rtlCol="0" anchor="t"/>
          <a:lstStyle/>
          <a:p>
            <a:pPr indent="0" marL="0">
              <a:buNone/>
            </a:pPr>
            <a:r>
              <a:rPr lang="en-US" sz="1200" dirty="0">
                <a:solidFill>
                  <a:schemeClr val="bg2"/>
                </a:solidFill>
              </a:rPr>
              <a:t>This briefing is a summary. Where it differs from a policy document, the policy document prevails.</a:t>
            </a:r>
            <a:endParaRPr lang="en-US" sz="1200" dirty="0"/>
          </a:p>
        </p:txBody>
      </p:sp>
    </p:spTree>
  </p:cSld>
  <p:clrMapOvr>
    <a:masterClrMapping/>
  </p:clrMapOvr>
</p:sld>
</file>

<file path=ppt/theme/theme1.xml><?xml version="1.0" encoding="utf-8"?>
<a:theme xmlns:a="http://schemas.openxmlformats.org/drawingml/2006/main" name="Northstar">
  <a:themeElements>
    <a:clrScheme name="Northstar">
      <a:dk1>
        <a:srgbClr val="1E2430"/>
      </a:dk1>
      <a:lt1>
        <a:srgbClr val="FFFFFF"/>
      </a:lt1>
      <a:dk2>
        <a:srgbClr val="14284B"/>
      </a:dk2>
      <a:lt2>
        <a:srgbClr val="EEF2F7"/>
      </a:lt2>
      <a:accent1>
        <a:srgbClr val="3A5F8F"/>
      </a:accent1>
      <a:accent2>
        <a:srgbClr val="C8892B"/>
      </a:accent2>
      <a:accent3>
        <a:srgbClr val="2E6B4F"/>
      </a:accent3>
      <a:accent4>
        <a:srgbClr val="A3231F"/>
      </a:accent4>
      <a:accent5>
        <a:srgbClr val="6B7F99"/>
      </a:accent5>
      <a:accent6>
        <a:srgbClr val="5A6270"/>
      </a:accent6>
      <a:hlink>
        <a:srgbClr val="3A5F8F"/>
      </a:hlink>
      <a:folHlink>
        <a:srgbClr val="6B7F99"/>
      </a:folHlink>
    </a:clrScheme>
    <a:fontScheme name="Northsta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Northstar Digital Services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changes on 1 October 2026 — Manager briefing</dc:title>
  <dc:subject>NDS-HR-PRES-011 v1.0 — summary briefing; policy documents prevail</dc:subject>
  <dc:creator>Northstar Digital Services Ltd.</dc:creator>
  <cp:lastModifiedBy>Northstar Digital Services Ltd.</cp:lastModifiedBy>
  <cp:revision>1</cp:revision>
  <dcterms:created xsi:type="dcterms:W3CDTF">2026-10-13T13:47:24Z</dcterms:created>
  <dcterms:modified xsi:type="dcterms:W3CDTF">2026-10-13T13:47:24Z</dcterms:modified>
</cp:coreProperties>
</file>