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0f591d53-8098-a12f-9187-a431b46ac4f1}">
          <p14:sldIdLst>
            <p14:sldId id="256"/>
            <p14:sldId id="257"/>
            <p14:sldId id="258"/>
          </p14:sldIdLst>
        </p14:section>
        <p14:section name="Time off and absence" id="{5b49b3d8-f897-6651-8859-a5cedf15a5d4}">
          <p14:sldIdLst>
            <p14:sldId id="259"/>
            <p14:sldId id="260"/>
          </p14:sldIdLst>
        </p14:section>
        <p14:section name="Security and expenses" id="{67ed1760-6404-1fb2-47c6-0e0fc20ae42b}">
          <p14:sldIdLst>
            <p14:sldId id="261"/>
            <p14:sldId id="262"/>
          </p14:sldIdLst>
        </p14:section>
        <p14:section name="Pay and benefits" id="{74de43ba-0620-190b-a846-6a34315c8987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in week one of corporate induction. Summarises the Employee Handbook NDS-HR-HB-001 v2.0 for new starters. Where this deck differs from a policy document, the policy document prevails.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Probation reviews take place at the end of months 1, 3 and 5, with the final review by the end of month 6. Notice during probation is 1 week on either side. If probation is not passed, the employee can appeal to People Operations within 5 working days of the outcome letter. Access to Confidential or Restricted data may be suspended if mandatory security training is not completed within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roles attend at least 8 days in each rolling 4-week period. The requirement is pro-rated and rounded up for part-time employees and for absence. Time is recorded in TimeTrack by 12:00 each Monday for customer-billable or capitalised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of more than 5 consecutive working days during probation also needs Head of Department approval. Leave is not approved until PeopleHub shows Approved, so do not book non-refundable travel before 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workers and on-call staff call at least 1 hour before their shift. After probation, company sick pay is 4 weeks full pay then 4 weeks half pay in any rolling 12 months for employees with less than 2 years'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are in the IT Security, Data Protection and Generative AI Policy NDS-SEC-ITG-004 v2.0. Personal laptops must not be used for Northstar work. USB storage is blocked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From Abroad is not available during probation. After probation it is limited to 10 working days in a rolling 12 months with approval from the line manager, People Operations and IT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Enrol in benefits within 30 days of becoming eligible, or wait for the annual window in March. Benefits not listed in the handbook or a supporting standard are not offered.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NORTHSTAR DIGITAL SERVICES LTD.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NDS-HR-PRES-012 v1.0  ·  New starter induction  ·  Summary only — where this differs from a policy document, the policy document prevails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Your first six months at Northstar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Corporate induction for new starters, week one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NDS-HR-PRES-012  ·  Version 1.0  ·  Effective 1 October 2026  ·  Owner: Director of People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Your first six months, step by step</a:t>
            </a:r>
            <a:endParaRPr lang="en-US" sz="3600" dirty="0"/>
          </a:p>
        </p:txBody>
      </p:sp>
      <p:sp>
        <p:nvSpPr>
          <p:cNvPr id="3" name="dot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line 1"/>
          <p:cNvSpPr/>
          <p:nvPr/>
        </p:nvSpPr>
        <p:spPr>
          <a:xfrm>
            <a:off x="1051560" y="1783080"/>
            <a:ext cx="1325880" cy="0"/>
          </a:xfrm>
          <a:prstGeom prst="line">
            <a:avLst/>
          </a:prstGeom>
          <a:noFill/>
          <a:ln w="25400">
            <a:solidFill>
              <a:srgbClr val="C9D2DE"/>
            </a:solidFill>
            <a:prstDash val="solid"/>
          </a:ln>
        </p:spPr>
      </p:sp>
      <p:sp>
        <p:nvSpPr>
          <p:cNvPr id="5" name="step head 1"/>
          <p:cNvSpPr txBox="1"/>
          <p:nvPr/>
        </p:nvSpPr>
        <p:spPr>
          <a:xfrm>
            <a:off x="54864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Before day one</a:t>
            </a:r>
            <a:endParaRPr lang="en-US" sz="1600" dirty="0"/>
          </a:p>
        </p:txBody>
      </p:sp>
      <p:sp>
        <p:nvSpPr>
          <p:cNvPr id="6" name="step body 1"/>
          <p:cNvSpPr txBox="1"/>
          <p:nvPr/>
        </p:nvSpPr>
        <p:spPr>
          <a:xfrm>
            <a:off x="548640" y="27889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Right-to-work check done; PeopleHub profile complete 5 working days before you start</a:t>
            </a:r>
            <a:endParaRPr lang="en-US" sz="1400" dirty="0"/>
          </a:p>
        </p:txBody>
      </p:sp>
      <p:sp>
        <p:nvSpPr>
          <p:cNvPr id="7" name="dot 2"/>
          <p:cNvSpPr/>
          <p:nvPr/>
        </p:nvSpPr>
        <p:spPr>
          <a:xfrm>
            <a:off x="2423160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line 2"/>
          <p:cNvSpPr/>
          <p:nvPr/>
        </p:nvSpPr>
        <p:spPr>
          <a:xfrm>
            <a:off x="2926080" y="1783080"/>
            <a:ext cx="1325880" cy="0"/>
          </a:xfrm>
          <a:prstGeom prst="line">
            <a:avLst/>
          </a:prstGeom>
          <a:noFill/>
          <a:ln w="25400">
            <a:solidFill>
              <a:srgbClr val="C9D2DE"/>
            </a:solidFill>
            <a:prstDash val="solid"/>
          </a:ln>
        </p:spPr>
      </p:sp>
      <p:sp>
        <p:nvSpPr>
          <p:cNvPr id="9" name="step head 2"/>
          <p:cNvSpPr txBox="1"/>
          <p:nvPr/>
        </p:nvSpPr>
        <p:spPr>
          <a:xfrm>
            <a:off x="242316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Day one</a:t>
            </a:r>
            <a:endParaRPr lang="en-US" sz="1600" dirty="0"/>
          </a:p>
        </p:txBody>
      </p:sp>
      <p:sp>
        <p:nvSpPr>
          <p:cNvPr id="10" name="step body 2"/>
          <p:cNvSpPr txBox="1"/>
          <p:nvPr/>
        </p:nvSpPr>
        <p:spPr>
          <a:xfrm>
            <a:off x="2423160" y="27889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Laptop, access card, MFA set-up, meet your manager</a:t>
            </a:r>
            <a:endParaRPr lang="en-US" sz="1400" dirty="0"/>
          </a:p>
        </p:txBody>
      </p:sp>
      <p:sp>
        <p:nvSpPr>
          <p:cNvPr id="11" name="dot 3"/>
          <p:cNvSpPr/>
          <p:nvPr/>
        </p:nvSpPr>
        <p:spPr>
          <a:xfrm>
            <a:off x="4297680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line 3"/>
          <p:cNvSpPr/>
          <p:nvPr/>
        </p:nvSpPr>
        <p:spPr>
          <a:xfrm>
            <a:off x="4800600" y="1783080"/>
            <a:ext cx="1325880" cy="0"/>
          </a:xfrm>
          <a:prstGeom prst="line">
            <a:avLst/>
          </a:prstGeom>
          <a:noFill/>
          <a:ln w="25400">
            <a:solidFill>
              <a:srgbClr val="C9D2DE"/>
            </a:solidFill>
            <a:prstDash val="solid"/>
          </a:ln>
        </p:spPr>
      </p:sp>
      <p:sp>
        <p:nvSpPr>
          <p:cNvPr id="13" name="step head 3"/>
          <p:cNvSpPr txBox="1"/>
          <p:nvPr/>
        </p:nvSpPr>
        <p:spPr>
          <a:xfrm>
            <a:off x="429768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Week one</a:t>
            </a:r>
            <a:endParaRPr lang="en-US" sz="1600" dirty="0"/>
          </a:p>
        </p:txBody>
      </p:sp>
      <p:sp>
        <p:nvSpPr>
          <p:cNvPr id="14" name="step body 3"/>
          <p:cNvSpPr txBox="1"/>
          <p:nvPr/>
        </p:nvSpPr>
        <p:spPr>
          <a:xfrm>
            <a:off x="4297680" y="27889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Induction, probation objectives, mandatory training starts</a:t>
            </a:r>
            <a:endParaRPr lang="en-US" sz="1400" dirty="0"/>
          </a:p>
        </p:txBody>
      </p:sp>
      <p:sp>
        <p:nvSpPr>
          <p:cNvPr id="15" name="dot 4"/>
          <p:cNvSpPr/>
          <p:nvPr/>
        </p:nvSpPr>
        <p:spPr>
          <a:xfrm>
            <a:off x="6172200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line 4"/>
          <p:cNvSpPr/>
          <p:nvPr/>
        </p:nvSpPr>
        <p:spPr>
          <a:xfrm>
            <a:off x="6675120" y="1783080"/>
            <a:ext cx="1325880" cy="0"/>
          </a:xfrm>
          <a:prstGeom prst="line">
            <a:avLst/>
          </a:prstGeom>
          <a:noFill/>
          <a:ln w="25400">
            <a:solidFill>
              <a:srgbClr val="C9D2DE"/>
            </a:solidFill>
            <a:prstDash val="solid"/>
          </a:ln>
        </p:spPr>
      </p:sp>
      <p:sp>
        <p:nvSpPr>
          <p:cNvPr id="17" name="step head 4"/>
          <p:cNvSpPr txBox="1"/>
          <p:nvPr/>
        </p:nvSpPr>
        <p:spPr>
          <a:xfrm>
            <a:off x="617220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Day 30</a:t>
            </a:r>
            <a:endParaRPr lang="en-US" sz="1600" dirty="0"/>
          </a:p>
        </p:txBody>
      </p:sp>
      <p:sp>
        <p:nvSpPr>
          <p:cNvPr id="18" name="step body 4"/>
          <p:cNvSpPr txBox="1"/>
          <p:nvPr/>
        </p:nvSpPr>
        <p:spPr>
          <a:xfrm>
            <a:off x="6172200" y="27889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mandatory training complete</a:t>
            </a:r>
            <a:endParaRPr lang="en-US" sz="1400" dirty="0"/>
          </a:p>
        </p:txBody>
      </p:sp>
      <p:sp>
        <p:nvSpPr>
          <p:cNvPr id="19" name="dot 5"/>
          <p:cNvSpPr/>
          <p:nvPr/>
        </p:nvSpPr>
        <p:spPr>
          <a:xfrm>
            <a:off x="8046720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line 5"/>
          <p:cNvSpPr/>
          <p:nvPr/>
        </p:nvSpPr>
        <p:spPr>
          <a:xfrm>
            <a:off x="8549640" y="1783080"/>
            <a:ext cx="1325880" cy="0"/>
          </a:xfrm>
          <a:prstGeom prst="line">
            <a:avLst/>
          </a:prstGeom>
          <a:noFill/>
          <a:ln w="25400">
            <a:solidFill>
              <a:srgbClr val="C9D2DE"/>
            </a:solidFill>
            <a:prstDash val="solid"/>
          </a:ln>
        </p:spPr>
      </p:sp>
      <p:sp>
        <p:nvSpPr>
          <p:cNvPr id="21" name="step head 5"/>
          <p:cNvSpPr txBox="1"/>
          <p:nvPr/>
        </p:nvSpPr>
        <p:spPr>
          <a:xfrm>
            <a:off x="804672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Months 1, 3, 5</a:t>
            </a:r>
            <a:endParaRPr lang="en-US" sz="1600" dirty="0"/>
          </a:p>
        </p:txBody>
      </p:sp>
      <p:sp>
        <p:nvSpPr>
          <p:cNvPr id="22" name="step body 5"/>
          <p:cNvSpPr txBox="1"/>
          <p:nvPr/>
        </p:nvSpPr>
        <p:spPr>
          <a:xfrm>
            <a:off x="8046720" y="27889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Probation reviews with your manager</a:t>
            </a:r>
            <a:endParaRPr lang="en-US" sz="1400" dirty="0"/>
          </a:p>
        </p:txBody>
      </p:sp>
      <p:sp>
        <p:nvSpPr>
          <p:cNvPr id="23" name="dot 6"/>
          <p:cNvSpPr/>
          <p:nvPr/>
        </p:nvSpPr>
        <p:spPr>
          <a:xfrm>
            <a:off x="992124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tep head 6"/>
          <p:cNvSpPr txBox="1"/>
          <p:nvPr/>
        </p:nvSpPr>
        <p:spPr>
          <a:xfrm>
            <a:off x="992124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By month 6</a:t>
            </a:r>
            <a:endParaRPr lang="en-US" sz="1600" dirty="0"/>
          </a:p>
        </p:txBody>
      </p:sp>
      <p:sp>
        <p:nvSpPr>
          <p:cNvPr id="25" name="step body 6"/>
          <p:cNvSpPr txBox="1"/>
          <p:nvPr/>
        </p:nvSpPr>
        <p:spPr>
          <a:xfrm>
            <a:off x="9921240" y="27889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 probation review and written outcome</a:t>
            </a:r>
            <a:endParaRPr lang="en-US" sz="1400" dirty="0"/>
          </a:p>
        </p:txBody>
      </p:sp>
      <p:sp>
        <p:nvSpPr>
          <p:cNvPr id="26" name="probation callout box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probation callout text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Probation is 6 months and can be extended once by up to 3 months. It is never passed or failed automatically.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When and where you work</a:t>
            </a:r>
            <a:endParaRPr lang="en-US" sz="3600" dirty="0"/>
          </a:p>
        </p:txBody>
      </p:sp>
      <p:sp>
        <p:nvSpPr>
          <p:cNvPr id="3" name="hours value"/>
          <p:cNvSpPr txBox="1"/>
          <p:nvPr/>
        </p:nvSpPr>
        <p:spPr>
          <a:xfrm>
            <a:off x="548640" y="1463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37.5</a:t>
            </a:r>
            <a:endParaRPr lang="en-US" sz="6000" dirty="0"/>
          </a:p>
        </p:txBody>
      </p:sp>
      <p:sp>
        <p:nvSpPr>
          <p:cNvPr id="4" name="hours label"/>
          <p:cNvSpPr txBox="1"/>
          <p:nvPr/>
        </p:nvSpPr>
        <p:spPr>
          <a:xfrm>
            <a:off x="54864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hours a week, 7.5 hours a day, plus an unpaid 60-minute lunch</a:t>
            </a:r>
            <a:endParaRPr lang="en-US" sz="1400" dirty="0"/>
          </a:p>
        </p:txBody>
      </p:sp>
      <p:sp>
        <p:nvSpPr>
          <p:cNvPr id="5" name="core value"/>
          <p:cNvSpPr txBox="1"/>
          <p:nvPr/>
        </p:nvSpPr>
        <p:spPr>
          <a:xfrm>
            <a:off x="4434840" y="1463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10–16</a:t>
            </a:r>
            <a:endParaRPr lang="en-US" sz="6000" dirty="0"/>
          </a:p>
        </p:txBody>
      </p:sp>
      <p:sp>
        <p:nvSpPr>
          <p:cNvPr id="6" name="core label"/>
          <p:cNvSpPr txBox="1"/>
          <p:nvPr/>
        </p:nvSpPr>
        <p:spPr>
          <a:xfrm>
            <a:off x="443484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hours (10:00 to 16:00), inside a flexible band of 07:30 to 19:00</a:t>
            </a:r>
            <a:endParaRPr lang="en-US" sz="1400" dirty="0"/>
          </a:p>
        </p:txBody>
      </p:sp>
      <p:sp>
        <p:nvSpPr>
          <p:cNvPr id="7" name="office value"/>
          <p:cNvSpPr txBox="1"/>
          <p:nvPr/>
        </p:nvSpPr>
        <p:spPr>
          <a:xfrm>
            <a:off x="8321040" y="1463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3 → 8</a:t>
            </a:r>
            <a:endParaRPr lang="en-US" sz="6000" dirty="0"/>
          </a:p>
        </p:txBody>
      </p:sp>
      <p:sp>
        <p:nvSpPr>
          <p:cNvPr id="8" name="office label"/>
          <p:cNvSpPr txBox="1"/>
          <p:nvPr/>
        </p:nvSpPr>
        <p:spPr>
          <a:xfrm>
            <a:off x="832104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office days a week for your first 4 weeks, then 8 days in every rolling 4 weeks</a:t>
            </a:r>
            <a:endParaRPr lang="en-US" sz="1400" dirty="0"/>
          </a:p>
        </p:txBody>
      </p:sp>
      <p:graphicFrame>
        <p:nvGraphicFramePr>
          <p:cNvPr id="4" name="office day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Counts towards office days?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Northstar office or customer site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Approved off-site team event or training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Working from home or a co-working space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(co-working only if HoD-approved)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Booking leave while you're in probation</a:t>
            </a:r>
            <a:endParaRPr lang="en-US" sz="3600" dirty="0"/>
          </a:p>
        </p:txBody>
      </p:sp>
      <p:sp>
        <p:nvSpPr>
          <p:cNvPr id="3" name="leave bullets"/>
          <p:cNvSpPr txBox="1"/>
          <p:nvPr/>
        </p:nvSpPr>
        <p:spPr>
          <a:xfrm>
            <a:off x="548640" y="137160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Full-time: 27 days a year plus 8 bank holidays, pro-rated in your first year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probation you can book leave you have accrued, plus up to 2 more days with your manager's approval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Request in PeopleHub; 10 working days' notice for 2 to 5 days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Keep 3 days for the shutdown: 29 to 31 December</a:t>
            </a:r>
            <a:endParaRPr lang="en-US" sz="1600" dirty="0"/>
          </a:p>
        </p:txBody>
      </p:sp>
      <p:sp>
        <p:nvSpPr>
          <p:cNvPr id="4" name="example card"/>
          <p:cNvSpPr/>
          <p:nvPr/>
        </p:nvSpPr>
        <p:spPr>
          <a:xfrm>
            <a:off x="6400800" y="1371600"/>
            <a:ext cx="521208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text"/>
          <p:cNvSpPr txBox="1"/>
          <p:nvPr/>
        </p:nvSpPr>
        <p:spPr>
          <a:xfrm>
            <a:off x="6675120" y="1554480"/>
            <a:ext cx="4663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Worked example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You start full-time on 1 March 2027.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On 1 June you have 3 complete months.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Accrued: 27 × 3 ÷ 12 = 6.75, rounded up to 7.0 days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Bookable: 7.0 + 2 = 9.0 days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Your 2027 entitlement is 23.0 days (27 × 306 ÷ 365, rounded up to the nearest half day).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If you're ill</a:t>
            </a:r>
            <a:endParaRPr lang="en-US" sz="3600" dirty="0"/>
          </a:p>
        </p:txBody>
      </p:sp>
      <p:sp>
        <p:nvSpPr>
          <p:cNvPr id="3" name="step 1 card"/>
          <p:cNvSpPr/>
          <p:nvPr/>
        </p:nvSpPr>
        <p:spPr>
          <a:xfrm>
            <a:off x="54864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icon bg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6" name="step 1 title"/>
          <p:cNvSpPr txBox="1"/>
          <p:nvPr/>
        </p:nvSpPr>
        <p:spPr>
          <a:xfrm>
            <a:off x="77724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Call by 09:30</a:t>
            </a:r>
            <a:endParaRPr lang="en-US" sz="1800" dirty="0"/>
          </a:p>
        </p:txBody>
      </p:sp>
      <p:sp>
        <p:nvSpPr>
          <p:cNvPr id="7" name="step 1 body"/>
          <p:cNvSpPr txBox="1"/>
          <p:nvPr/>
        </p:nvSpPr>
        <p:spPr>
          <a:xfrm>
            <a:off x="77724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Phone or Teams call to your manager on day one. A message alone isn't enough.</a:t>
            </a:r>
            <a:endParaRPr lang="en-US" sz="1500" dirty="0"/>
          </a:p>
        </p:txBody>
      </p:sp>
      <p:sp>
        <p:nvSpPr>
          <p:cNvPr id="8" name="step 2 card"/>
          <p:cNvSpPr/>
          <p:nvPr/>
        </p:nvSpPr>
        <p:spPr>
          <a:xfrm>
            <a:off x="338328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 icon bg"/>
          <p:cNvSpPr/>
          <p:nvPr/>
        </p:nvSpPr>
        <p:spPr>
          <a:xfrm>
            <a:off x="361188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709928"/>
            <a:ext cx="329184" cy="329184"/>
          </a:xfrm>
          <a:prstGeom prst="rect">
            <a:avLst/>
          </a:prstGeom>
        </p:spPr>
      </p:pic>
      <p:sp>
        <p:nvSpPr>
          <p:cNvPr id="11" name="step 2 title"/>
          <p:cNvSpPr txBox="1"/>
          <p:nvPr/>
        </p:nvSpPr>
        <p:spPr>
          <a:xfrm>
            <a:off x="361188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 it</a:t>
            </a:r>
            <a:endParaRPr lang="en-US" sz="1800" dirty="0"/>
          </a:p>
        </p:txBody>
      </p:sp>
      <p:sp>
        <p:nvSpPr>
          <p:cNvPr id="12" name="step 2 body"/>
          <p:cNvSpPr txBox="1"/>
          <p:nvPr/>
        </p:nvSpPr>
        <p:spPr>
          <a:xfrm>
            <a:off x="361188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Record the absence in PeopleHub the same day.</a:t>
            </a:r>
            <a:endParaRPr lang="en-US" sz="1500" dirty="0"/>
          </a:p>
        </p:txBody>
      </p:sp>
      <p:sp>
        <p:nvSpPr>
          <p:cNvPr id="13" name="step 3 card"/>
          <p:cNvSpPr/>
          <p:nvPr/>
        </p:nvSpPr>
        <p:spPr>
          <a:xfrm>
            <a:off x="621792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3 icon bg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709928"/>
            <a:ext cx="329184" cy="329184"/>
          </a:xfrm>
          <a:prstGeom prst="rect">
            <a:avLst/>
          </a:prstGeom>
        </p:spPr>
      </p:pic>
      <p:sp>
        <p:nvSpPr>
          <p:cNvPr id="16" name="step 3 title"/>
          <p:cNvSpPr txBox="1"/>
          <p:nvPr/>
        </p:nvSpPr>
        <p:spPr>
          <a:xfrm>
            <a:off x="644652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in touch</a:t>
            </a:r>
            <a:endParaRPr lang="en-US" sz="1800" dirty="0"/>
          </a:p>
        </p:txBody>
      </p:sp>
      <p:sp>
        <p:nvSpPr>
          <p:cNvPr id="17" name="step 3 body"/>
          <p:cNvSpPr txBox="1"/>
          <p:nvPr/>
        </p:nvSpPr>
        <p:spPr>
          <a:xfrm>
            <a:off x="644652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Update your manager on day 3, then weekly.</a:t>
            </a:r>
            <a:endParaRPr lang="en-US" sz="1500" dirty="0"/>
          </a:p>
        </p:txBody>
      </p:sp>
      <p:sp>
        <p:nvSpPr>
          <p:cNvPr id="18" name="step 4 card"/>
          <p:cNvSpPr/>
          <p:nvPr/>
        </p:nvSpPr>
        <p:spPr>
          <a:xfrm>
            <a:off x="90525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4 icon bg"/>
          <p:cNvSpPr/>
          <p:nvPr/>
        </p:nvSpPr>
        <p:spPr>
          <a:xfrm>
            <a:off x="928116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709928"/>
            <a:ext cx="329184" cy="329184"/>
          </a:xfrm>
          <a:prstGeom prst="rect">
            <a:avLst/>
          </a:prstGeom>
        </p:spPr>
      </p:pic>
      <p:sp>
        <p:nvSpPr>
          <p:cNvPr id="21" name="step 4 title"/>
          <p:cNvSpPr txBox="1"/>
          <p:nvPr/>
        </p:nvSpPr>
        <p:spPr>
          <a:xfrm>
            <a:off x="928116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Evidence</a:t>
            </a:r>
            <a:endParaRPr lang="en-US" sz="1800" dirty="0"/>
          </a:p>
        </p:txBody>
      </p:sp>
      <p:sp>
        <p:nvSpPr>
          <p:cNvPr id="22" name="step 4 body"/>
          <p:cNvSpPr txBox="1"/>
          <p:nvPr/>
        </p:nvSpPr>
        <p:spPr>
          <a:xfrm>
            <a:off x="928116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Self-certify up to 7 calendar days; a fit note after that.</a:t>
            </a:r>
            <a:endParaRPr lang="en-US" sz="1500" dirty="0"/>
          </a:p>
        </p:txBody>
      </p:sp>
      <p:sp>
        <p:nvSpPr>
          <p:cNvPr id="23" name="ssp callout box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sp callout text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During probation you receive Statutory Sick Pay from day one (£123.25 a week or 80% of earnings, whichever is lower). Company sick pay starts once probation is passed.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Five security habits from day one</a:t>
            </a:r>
            <a:endParaRPr lang="en-US" sz="3600" dirty="0"/>
          </a:p>
        </p:txBody>
      </p:sp>
      <p:sp>
        <p:nvSpPr>
          <p:cNvPr id="3" name="habit 1 card"/>
          <p:cNvSpPr/>
          <p:nvPr/>
        </p:nvSpPr>
        <p:spPr>
          <a:xfrm>
            <a:off x="548640" y="1371600"/>
            <a:ext cx="2084832" cy="32918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abit 1 icon bg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hab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6" name="habit 1 title"/>
          <p:cNvSpPr txBox="1"/>
          <p:nvPr/>
        </p:nvSpPr>
        <p:spPr>
          <a:xfrm>
            <a:off x="777240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Passwords</a:t>
            </a:r>
            <a:endParaRPr lang="en-US" sz="1800" dirty="0"/>
          </a:p>
        </p:txBody>
      </p:sp>
      <p:sp>
        <p:nvSpPr>
          <p:cNvPr id="7" name="habit 1 body"/>
          <p:cNvSpPr txBox="1"/>
          <p:nvPr/>
        </p:nvSpPr>
        <p:spPr>
          <a:xfrm>
            <a:off x="777240" y="3017520"/>
            <a:ext cx="1673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14 characters minimum, unique, in the Northstar password manager</a:t>
            </a:r>
            <a:endParaRPr lang="en-US" sz="1500" dirty="0"/>
          </a:p>
        </p:txBody>
      </p:sp>
      <p:sp>
        <p:nvSpPr>
          <p:cNvPr id="8" name="habit 2 card"/>
          <p:cNvSpPr/>
          <p:nvPr/>
        </p:nvSpPr>
        <p:spPr>
          <a:xfrm>
            <a:off x="2816352" y="1371600"/>
            <a:ext cx="2084832" cy="32918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abit 2 icon bg"/>
          <p:cNvSpPr/>
          <p:nvPr/>
        </p:nvSpPr>
        <p:spPr>
          <a:xfrm>
            <a:off x="3044952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hab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09928"/>
            <a:ext cx="329184" cy="329184"/>
          </a:xfrm>
          <a:prstGeom prst="rect">
            <a:avLst/>
          </a:prstGeom>
        </p:spPr>
      </p:pic>
      <p:sp>
        <p:nvSpPr>
          <p:cNvPr id="11" name="habit 2 title"/>
          <p:cNvSpPr txBox="1"/>
          <p:nvPr/>
        </p:nvSpPr>
        <p:spPr>
          <a:xfrm>
            <a:off x="3044952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MFA</a:t>
            </a:r>
            <a:endParaRPr lang="en-US" sz="1800" dirty="0"/>
          </a:p>
        </p:txBody>
      </p:sp>
      <p:sp>
        <p:nvSpPr>
          <p:cNvPr id="12" name="habit 2 body"/>
          <p:cNvSpPr txBox="1"/>
          <p:nvPr/>
        </p:nvSpPr>
        <p:spPr>
          <a:xfrm>
            <a:off x="3044952" y="3017520"/>
            <a:ext cx="1673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Mandatory everywhere. Never approve a prompt you didn't start</a:t>
            </a:r>
            <a:endParaRPr lang="en-US" sz="1500" dirty="0"/>
          </a:p>
        </p:txBody>
      </p:sp>
      <p:sp>
        <p:nvSpPr>
          <p:cNvPr id="13" name="habit 3 card"/>
          <p:cNvSpPr/>
          <p:nvPr/>
        </p:nvSpPr>
        <p:spPr>
          <a:xfrm>
            <a:off x="5084064" y="1371600"/>
            <a:ext cx="2084832" cy="32918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habit 3 icon bg"/>
          <p:cNvSpPr/>
          <p:nvPr/>
        </p:nvSpPr>
        <p:spPr>
          <a:xfrm>
            <a:off x="5312664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hab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709928"/>
            <a:ext cx="329184" cy="329184"/>
          </a:xfrm>
          <a:prstGeom prst="rect">
            <a:avLst/>
          </a:prstGeom>
        </p:spPr>
      </p:pic>
      <p:sp>
        <p:nvSpPr>
          <p:cNvPr id="16" name="habit 3 title"/>
          <p:cNvSpPr txBox="1"/>
          <p:nvPr/>
        </p:nvSpPr>
        <p:spPr>
          <a:xfrm>
            <a:off x="5312664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Phishing</a:t>
            </a:r>
            <a:endParaRPr lang="en-US" sz="1800" dirty="0"/>
          </a:p>
        </p:txBody>
      </p:sp>
      <p:sp>
        <p:nvSpPr>
          <p:cNvPr id="17" name="habit 3 body"/>
          <p:cNvSpPr txBox="1"/>
          <p:nvPr/>
        </p:nvSpPr>
        <p:spPr>
          <a:xfrm>
            <a:off x="5312664" y="3017520"/>
            <a:ext cx="1673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the Report Phish button. Don't click, open or reply</a:t>
            </a:r>
            <a:endParaRPr lang="en-US" sz="1500" dirty="0"/>
          </a:p>
        </p:txBody>
      </p:sp>
      <p:sp>
        <p:nvSpPr>
          <p:cNvPr id="18" name="habit 4 card"/>
          <p:cNvSpPr/>
          <p:nvPr/>
        </p:nvSpPr>
        <p:spPr>
          <a:xfrm>
            <a:off x="7351776" y="1371600"/>
            <a:ext cx="2084832" cy="32918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habit 4 icon bg"/>
          <p:cNvSpPr/>
          <p:nvPr/>
        </p:nvSpPr>
        <p:spPr>
          <a:xfrm>
            <a:off x="7580376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habi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1709928"/>
            <a:ext cx="329184" cy="329184"/>
          </a:xfrm>
          <a:prstGeom prst="rect">
            <a:avLst/>
          </a:prstGeom>
        </p:spPr>
      </p:pic>
      <p:sp>
        <p:nvSpPr>
          <p:cNvPr id="21" name="habit 4 title"/>
          <p:cNvSpPr txBox="1"/>
          <p:nvPr/>
        </p:nvSpPr>
        <p:spPr>
          <a:xfrm>
            <a:off x="7580376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Lost device</a:t>
            </a:r>
            <a:endParaRPr lang="en-US" sz="1800" dirty="0"/>
          </a:p>
        </p:txBody>
      </p:sp>
      <p:sp>
        <p:nvSpPr>
          <p:cNvPr id="22" name="habit 4 body"/>
          <p:cNvSpPr txBox="1"/>
          <p:nvPr/>
        </p:nvSpPr>
        <p:spPr>
          <a:xfrm>
            <a:off x="7580376" y="3017520"/>
            <a:ext cx="1673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Tell the IT Service Desk within 1 hour; police within 24 hours if stolen</a:t>
            </a:r>
            <a:endParaRPr lang="en-US" sz="1500" dirty="0"/>
          </a:p>
        </p:txBody>
      </p:sp>
      <p:sp>
        <p:nvSpPr>
          <p:cNvPr id="23" name="habit 5 card"/>
          <p:cNvSpPr/>
          <p:nvPr/>
        </p:nvSpPr>
        <p:spPr>
          <a:xfrm>
            <a:off x="9619488" y="1371600"/>
            <a:ext cx="2084832" cy="32918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habit 5 icon bg"/>
          <p:cNvSpPr/>
          <p:nvPr/>
        </p:nvSpPr>
        <p:spPr>
          <a:xfrm>
            <a:off x="9848088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habi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16" y="1709928"/>
            <a:ext cx="329184" cy="329184"/>
          </a:xfrm>
          <a:prstGeom prst="rect">
            <a:avLst/>
          </a:prstGeom>
        </p:spPr>
      </p:pic>
      <p:sp>
        <p:nvSpPr>
          <p:cNvPr id="26" name="habit 5 title"/>
          <p:cNvSpPr txBox="1"/>
          <p:nvPr/>
        </p:nvSpPr>
        <p:spPr>
          <a:xfrm>
            <a:off x="9848088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tools</a:t>
            </a:r>
            <a:endParaRPr lang="en-US" sz="1800" dirty="0"/>
          </a:p>
        </p:txBody>
      </p:sp>
      <p:sp>
        <p:nvSpPr>
          <p:cNvPr id="27" name="habit 5 body"/>
          <p:cNvSpPr txBox="1"/>
          <p:nvPr/>
        </p:nvSpPr>
        <p:spPr>
          <a:xfrm>
            <a:off x="9848088" y="3017520"/>
            <a:ext cx="1673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Approved tools only. Never put Restricted data into any AI tool</a:t>
            </a:r>
            <a:endParaRPr lang="en-US" sz="1500" dirty="0"/>
          </a:p>
        </p:txBody>
      </p:sp>
      <p:sp>
        <p:nvSpPr>
          <p:cNvPr id="28" name="security note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Report any suspected security incident to ithelp@northstar.example or security@northstar.example within 1 hour.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Expenses and your home set-up</a:t>
            </a:r>
            <a:endParaRPr lang="en-US" sz="3600" dirty="0"/>
          </a:p>
        </p:txBody>
      </p:sp>
      <p:sp>
        <p:nvSpPr>
          <p:cNvPr id="3" name="expenses card"/>
          <p:cNvSpPr/>
          <p:nvPr/>
        </p:nvSpPr>
        <p:spPr>
          <a:xfrm>
            <a:off x="548640" y="1371600"/>
            <a:ext cx="53949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xpenses icon bg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expens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6" name="expenses title"/>
          <p:cNvSpPr txBox="1"/>
          <p:nvPr/>
        </p:nvSpPr>
        <p:spPr>
          <a:xfrm>
            <a:off x="1463040" y="157276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Claiming expenses</a:t>
            </a:r>
            <a:endParaRPr lang="en-US" sz="1800" dirty="0"/>
          </a:p>
        </p:txBody>
      </p:sp>
      <p:sp>
        <p:nvSpPr>
          <p:cNvPr id="7" name="expenses body"/>
          <p:cNvSpPr txBox="1"/>
          <p:nvPr/>
        </p:nvSpPr>
        <p:spPr>
          <a:xfrm>
            <a:off x="822960" y="228600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Claim in ExpenseFlow within 30 calendar days with an itemised receipt. Get approval before overnight stays, any international travel, single items over £250 and client entertainment. Approved claims by the 10th are paid with your salary on the 25th.</a:t>
            </a:r>
            <a:endParaRPr lang="en-US" sz="1600" dirty="0"/>
          </a:p>
        </p:txBody>
      </p:sp>
      <p:sp>
        <p:nvSpPr>
          <p:cNvPr id="8" name="home card"/>
          <p:cNvSpPr/>
          <p:nvPr/>
        </p:nvSpPr>
        <p:spPr>
          <a:xfrm>
            <a:off x="6217920" y="1371600"/>
            <a:ext cx="53949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ome icon bg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ho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709928"/>
            <a:ext cx="329184" cy="329184"/>
          </a:xfrm>
          <a:prstGeom prst="rect">
            <a:avLst/>
          </a:prstGeom>
        </p:spPr>
      </p:pic>
      <p:sp>
        <p:nvSpPr>
          <p:cNvPr id="11" name="home title"/>
          <p:cNvSpPr txBox="1"/>
          <p:nvPr/>
        </p:nvSpPr>
        <p:spPr>
          <a:xfrm>
            <a:off x="7132320" y="157276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Working from home</a:t>
            </a:r>
            <a:endParaRPr lang="en-US" sz="1800" dirty="0"/>
          </a:p>
        </p:txBody>
      </p:sp>
      <p:sp>
        <p:nvSpPr>
          <p:cNvPr id="12" name="home body"/>
          <p:cNvSpPr txBox="1"/>
          <p:nvPr/>
        </p:nvSpPr>
        <p:spPr>
          <a:xfrm>
            <a:off x="6492240" y="228600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You get a laptop, one monitor, keyboard, mouse and headset. Once you pass probation you can claim up to £300 once every 3 years for a desk or chair. Broadband isn't reimbursed. Complete the DSE self-assessment within 2 weeks.</a:t>
            </a:r>
            <a:endParaRPr lang="en-US" sz="1600" dirty="0"/>
          </a:p>
        </p:txBody>
      </p:sp>
      <p:sp>
        <p:nvSpPr>
          <p:cNvPr id="13" name="abroad callout box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abroad callout text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Working from abroad isn't available during probation. After that it's limited to 10 working days in a rolling 12 months.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Pay and benefits: when they start</a:t>
            </a:r>
            <a:endParaRPr lang="en-US" sz="3600" dirty="0"/>
          </a:p>
        </p:txBody>
      </p:sp>
      <p:graphicFrame>
        <p:nvGraphicFramePr>
          <p:cNvPr id="9" name="benefi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Benefit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When you're eligible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Detail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From day 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Paid on the 25th; payslips in PeopleHub by the 23rd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Pension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Auto-enrolment if eligible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Northstar pays 5% of basic salary when you pay at least 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Life assurance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From day 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× basic salary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Employee Assistance Programme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From day 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24/7 confidential support for you and your household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Private medical insurance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After probation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Employee-only cover; family cover at your own 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Cycle-to-work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After probation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Salary sacrifice, up to £2,000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Learning budget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From joining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£1,000 per financial year, pro-rated by complete months remaining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Who to ask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People questions: people@northstar.example  ·  Pay: payroll@northstar.example  ·  IT: ithelp@northstar.example  ·  Security incidents: security@northstar.example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This induction deck is a summary. Where it differs from a policy document, the policy document prevails.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star">
  <a:themeElements>
    <a:clrScheme name="Northstar">
      <a:dk1>
        <a:srgbClr val="1E2430"/>
      </a:dk1>
      <a:lt1>
        <a:srgbClr val="FFFFFF"/>
      </a:lt1>
      <a:dk2>
        <a:srgbClr val="14284B"/>
      </a:dk2>
      <a:lt2>
        <a:srgbClr val="EEF2F7"/>
      </a:lt2>
      <a:accent1>
        <a:srgbClr val="3A5F8F"/>
      </a:accent1>
      <a:accent2>
        <a:srgbClr val="C8892B"/>
      </a:accent2>
      <a:accent3>
        <a:srgbClr val="2E6B4F"/>
      </a:accent3>
      <a:accent4>
        <a:srgbClr val="A3231F"/>
      </a:accent4>
      <a:accent5>
        <a:srgbClr val="6B7F99"/>
      </a:accent5>
      <a:accent6>
        <a:srgbClr val="5A6270"/>
      </a:accent6>
      <a:hlink>
        <a:srgbClr val="3A5F8F"/>
      </a:hlink>
      <a:folHlink>
        <a:srgbClr val="6B7F99"/>
      </a:folHlink>
    </a:clrScheme>
    <a:fontScheme name="Northsta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Northstar Digital Services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Northstar — Your first six months</dc:title>
  <dc:subject>NDS-HR-PRES-012 v1.0 — new starter induction; policy documents prevail</dc:subject>
  <dc:creator>Northstar Digital Services Ltd.</dc:creator>
  <cp:lastModifiedBy>Northstar Digital Services Ltd.</cp:lastModifiedBy>
  <cp:revision>1</cp:revision>
  <dcterms:created xsi:type="dcterms:W3CDTF">2026-10-13T13:47:56Z</dcterms:created>
  <dcterms:modified xsi:type="dcterms:W3CDTF">2026-10-13T13:47:56Z</dcterms:modified>
</cp:coreProperties>
</file>